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0233600" cy="40233600"/>
  <p:notesSz cx="40233600" cy="40233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0000"/>
    <a:srgbClr val="EFDA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55" autoAdjust="0"/>
    <p:restoredTop sz="94610"/>
  </p:normalViewPr>
  <p:slideViewPr>
    <p:cSldViewPr snapToGrid="0" snapToObjects="1">
      <p:cViewPr>
        <p:scale>
          <a:sx n="40" d="100"/>
          <a:sy n="40" d="100"/>
        </p:scale>
        <p:origin x="-72" y="-5208"/>
      </p:cViewPr>
      <p:guideLst/>
    </p:cSldViewPr>
  </p:slideViewPr>
  <p:notesTextViewPr>
    <p:cViewPr>
      <p:scale>
        <a:sx n="1" d="1"/>
        <a:sy n="1" d="1"/>
      </p:scale>
      <p:origin x="0" y="0"/>
    </p:cViewPr>
  </p:notesTextViewPr>
  <p:sorterViewPr>
    <p:cViewPr>
      <p:scale>
        <a:sx n="160" d="100"/>
        <a:sy n="160"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di Airori" userId="6cc6312a-c066-4180-82f9-0b80e04ba1ee" providerId="ADAL" clId="{3E170B51-9A38-45C8-8A13-AB3C322917DE}"/>
    <pc:docChg chg="undo custSel modSld">
      <pc:chgData name="Aldi Airori" userId="6cc6312a-c066-4180-82f9-0b80e04ba1ee" providerId="ADAL" clId="{3E170B51-9A38-45C8-8A13-AB3C322917DE}" dt="2026-10-05T19:46:01.100" v="1544" actId="20577"/>
      <pc:docMkLst>
        <pc:docMk/>
      </pc:docMkLst>
      <pc:sldChg chg="addSp delSp modSp mod">
        <pc:chgData name="Aldi Airori" userId="6cc6312a-c066-4180-82f9-0b80e04ba1ee" providerId="ADAL" clId="{3E170B51-9A38-45C8-8A13-AB3C322917DE}" dt="2026-10-05T19:46:01.100" v="1544" actId="20577"/>
        <pc:sldMkLst>
          <pc:docMk/>
          <pc:sldMk cId="0" sldId="256"/>
        </pc:sldMkLst>
        <pc:spChg chg="mod">
          <ac:chgData name="Aldi Airori" userId="6cc6312a-c066-4180-82f9-0b80e04ba1ee" providerId="ADAL" clId="{3E170B51-9A38-45C8-8A13-AB3C322917DE}" dt="2026-09-21T21:12:25.319" v="69" actId="14100"/>
          <ac:spMkLst>
            <pc:docMk/>
            <pc:sldMk cId="0" sldId="256"/>
            <ac:spMk id="4" creationId="{00000000-0000-0000-0000-000000000000}"/>
          </ac:spMkLst>
        </pc:spChg>
        <pc:spChg chg="mod">
          <ac:chgData name="Aldi Airori" userId="6cc6312a-c066-4180-82f9-0b80e04ba1ee" providerId="ADAL" clId="{3E170B51-9A38-45C8-8A13-AB3C322917DE}" dt="2026-10-02T14:19:02.667" v="671" actId="1076"/>
          <ac:spMkLst>
            <pc:docMk/>
            <pc:sldMk cId="0" sldId="256"/>
            <ac:spMk id="5" creationId="{00000000-0000-0000-0000-000000000000}"/>
          </ac:spMkLst>
        </pc:spChg>
        <pc:spChg chg="mod">
          <ac:chgData name="Aldi Airori" userId="6cc6312a-c066-4180-82f9-0b80e04ba1ee" providerId="ADAL" clId="{3E170B51-9A38-45C8-8A13-AB3C322917DE}" dt="2026-10-02T13:54:54.489" v="607" actId="255"/>
          <ac:spMkLst>
            <pc:docMk/>
            <pc:sldMk cId="0" sldId="256"/>
            <ac:spMk id="6" creationId="{00000000-0000-0000-0000-000000000000}"/>
          </ac:spMkLst>
        </pc:spChg>
        <pc:spChg chg="mod">
          <ac:chgData name="Aldi Airori" userId="6cc6312a-c066-4180-82f9-0b80e04ba1ee" providerId="ADAL" clId="{3E170B51-9A38-45C8-8A13-AB3C322917DE}" dt="2026-10-02T13:55:08.065" v="608" actId="255"/>
          <ac:spMkLst>
            <pc:docMk/>
            <pc:sldMk cId="0" sldId="256"/>
            <ac:spMk id="7" creationId="{00000000-0000-0000-0000-000000000000}"/>
          </ac:spMkLst>
        </pc:spChg>
        <pc:spChg chg="mod">
          <ac:chgData name="Aldi Airori" userId="6cc6312a-c066-4180-82f9-0b80e04ba1ee" providerId="ADAL" clId="{3E170B51-9A38-45C8-8A13-AB3C322917DE}" dt="2026-10-02T14:13:23.494" v="668" actId="1076"/>
          <ac:spMkLst>
            <pc:docMk/>
            <pc:sldMk cId="0" sldId="256"/>
            <ac:spMk id="8" creationId="{00000000-0000-0000-0000-000000000000}"/>
          </ac:spMkLst>
        </pc:spChg>
        <pc:spChg chg="mod">
          <ac:chgData name="Aldi Airori" userId="6cc6312a-c066-4180-82f9-0b80e04ba1ee" providerId="ADAL" clId="{3E170B51-9A38-45C8-8A13-AB3C322917DE}" dt="2026-10-02T14:01:46.493" v="644" actId="164"/>
          <ac:spMkLst>
            <pc:docMk/>
            <pc:sldMk cId="0" sldId="256"/>
            <ac:spMk id="9" creationId="{00000000-0000-0000-0000-000000000000}"/>
          </ac:spMkLst>
        </pc:spChg>
        <pc:spChg chg="mod">
          <ac:chgData name="Aldi Airori" userId="6cc6312a-c066-4180-82f9-0b80e04ba1ee" providerId="ADAL" clId="{3E170B51-9A38-45C8-8A13-AB3C322917DE}" dt="2026-10-02T14:01:46.493" v="644" actId="164"/>
          <ac:spMkLst>
            <pc:docMk/>
            <pc:sldMk cId="0" sldId="256"/>
            <ac:spMk id="10" creationId="{00000000-0000-0000-0000-000000000000}"/>
          </ac:spMkLst>
        </pc:spChg>
        <pc:spChg chg="mod">
          <ac:chgData name="Aldi Airori" userId="6cc6312a-c066-4180-82f9-0b80e04ba1ee" providerId="ADAL" clId="{3E170B51-9A38-45C8-8A13-AB3C322917DE}" dt="2026-09-21T21:12:51.119" v="73" actId="403"/>
          <ac:spMkLst>
            <pc:docMk/>
            <pc:sldMk cId="0" sldId="256"/>
            <ac:spMk id="11" creationId="{00000000-0000-0000-0000-000000000000}"/>
          </ac:spMkLst>
        </pc:spChg>
        <pc:spChg chg="mod">
          <ac:chgData name="Aldi Airori" userId="6cc6312a-c066-4180-82f9-0b80e04ba1ee" providerId="ADAL" clId="{3E170B51-9A38-45C8-8A13-AB3C322917DE}" dt="2026-10-02T14:57:10.478" v="694" actId="255"/>
          <ac:spMkLst>
            <pc:docMk/>
            <pc:sldMk cId="0" sldId="256"/>
            <ac:spMk id="13" creationId="{00000000-0000-0000-0000-000000000000}"/>
          </ac:spMkLst>
        </pc:spChg>
        <pc:spChg chg="mod">
          <ac:chgData name="Aldi Airori" userId="6cc6312a-c066-4180-82f9-0b80e04ba1ee" providerId="ADAL" clId="{3E170B51-9A38-45C8-8A13-AB3C322917DE}" dt="2026-10-02T14:57:24.676" v="695" actId="255"/>
          <ac:spMkLst>
            <pc:docMk/>
            <pc:sldMk cId="0" sldId="256"/>
            <ac:spMk id="15" creationId="{00000000-0000-0000-0000-000000000000}"/>
          </ac:spMkLst>
        </pc:spChg>
        <pc:spChg chg="mod">
          <ac:chgData name="Aldi Airori" userId="6cc6312a-c066-4180-82f9-0b80e04ba1ee" providerId="ADAL" clId="{3E170B51-9A38-45C8-8A13-AB3C322917DE}" dt="2026-10-02T14:57:33.524" v="696" actId="255"/>
          <ac:spMkLst>
            <pc:docMk/>
            <pc:sldMk cId="0" sldId="256"/>
            <ac:spMk id="17" creationId="{00000000-0000-0000-0000-000000000000}"/>
          </ac:spMkLst>
        </pc:spChg>
        <pc:spChg chg="mod">
          <ac:chgData name="Aldi Airori" userId="6cc6312a-c066-4180-82f9-0b80e04ba1ee" providerId="ADAL" clId="{3E170B51-9A38-45C8-8A13-AB3C322917DE}" dt="2026-09-21T21:12:53.890" v="75" actId="403"/>
          <ac:spMkLst>
            <pc:docMk/>
            <pc:sldMk cId="0" sldId="256"/>
            <ac:spMk id="18" creationId="{00000000-0000-0000-0000-000000000000}"/>
          </ac:spMkLst>
        </pc:spChg>
        <pc:spChg chg="mod">
          <ac:chgData name="Aldi Airori" userId="6cc6312a-c066-4180-82f9-0b80e04ba1ee" providerId="ADAL" clId="{3E170B51-9A38-45C8-8A13-AB3C322917DE}" dt="2026-10-02T13:58:36.456" v="635" actId="1076"/>
          <ac:spMkLst>
            <pc:docMk/>
            <pc:sldMk cId="0" sldId="256"/>
            <ac:spMk id="19" creationId="{00000000-0000-0000-0000-000000000000}"/>
          </ac:spMkLst>
        </pc:spChg>
        <pc:spChg chg="mod">
          <ac:chgData name="Aldi Airori" userId="6cc6312a-c066-4180-82f9-0b80e04ba1ee" providerId="ADAL" clId="{3E170B51-9A38-45C8-8A13-AB3C322917DE}" dt="2026-10-02T14:56:52.219" v="692" actId="255"/>
          <ac:spMkLst>
            <pc:docMk/>
            <pc:sldMk cId="0" sldId="256"/>
            <ac:spMk id="20" creationId="{00000000-0000-0000-0000-000000000000}"/>
          </ac:spMkLst>
        </pc:spChg>
        <pc:spChg chg="mod">
          <ac:chgData name="Aldi Airori" userId="6cc6312a-c066-4180-82f9-0b80e04ba1ee" providerId="ADAL" clId="{3E170B51-9A38-45C8-8A13-AB3C322917DE}" dt="2026-10-05T17:10:47.168" v="1493" actId="1076"/>
          <ac:spMkLst>
            <pc:docMk/>
            <pc:sldMk cId="0" sldId="256"/>
            <ac:spMk id="33" creationId="{00000000-0000-0000-0000-000000000000}"/>
          </ac:spMkLst>
        </pc:spChg>
        <pc:spChg chg="mod">
          <ac:chgData name="Aldi Airori" userId="6cc6312a-c066-4180-82f9-0b80e04ba1ee" providerId="ADAL" clId="{3E170B51-9A38-45C8-8A13-AB3C322917DE}" dt="2026-10-02T15:59:23.546" v="1451" actId="164"/>
          <ac:spMkLst>
            <pc:docMk/>
            <pc:sldMk cId="0" sldId="256"/>
            <ac:spMk id="37" creationId="{D27EE3A4-FBEF-00E6-99F0-F93AFA96E5B0}"/>
          </ac:spMkLst>
        </pc:spChg>
        <pc:spChg chg="mod">
          <ac:chgData name="Aldi Airori" userId="6cc6312a-c066-4180-82f9-0b80e04ba1ee" providerId="ADAL" clId="{3E170B51-9A38-45C8-8A13-AB3C322917DE}" dt="2026-10-02T16:00:27.985" v="1461" actId="14100"/>
          <ac:spMkLst>
            <pc:docMk/>
            <pc:sldMk cId="0" sldId="256"/>
            <ac:spMk id="39" creationId="{00000000-0000-0000-0000-000000000000}"/>
          </ac:spMkLst>
        </pc:spChg>
        <pc:spChg chg="mod">
          <ac:chgData name="Aldi Airori" userId="6cc6312a-c066-4180-82f9-0b80e04ba1ee" providerId="ADAL" clId="{3E170B51-9A38-45C8-8A13-AB3C322917DE}" dt="2026-10-02T16:00:16.266" v="1459" actId="1076"/>
          <ac:spMkLst>
            <pc:docMk/>
            <pc:sldMk cId="0" sldId="256"/>
            <ac:spMk id="40" creationId="{00000000-0000-0000-0000-000000000000}"/>
          </ac:spMkLst>
        </pc:spChg>
        <pc:spChg chg="mod">
          <ac:chgData name="Aldi Airori" userId="6cc6312a-c066-4180-82f9-0b80e04ba1ee" providerId="ADAL" clId="{3E170B51-9A38-45C8-8A13-AB3C322917DE}" dt="2026-10-02T14:00:21.162" v="642" actId="164"/>
          <ac:spMkLst>
            <pc:docMk/>
            <pc:sldMk cId="0" sldId="256"/>
            <ac:spMk id="42" creationId="{00000000-0000-0000-0000-000000000000}"/>
          </ac:spMkLst>
        </pc:spChg>
        <pc:spChg chg="mod">
          <ac:chgData name="Aldi Airori" userId="6cc6312a-c066-4180-82f9-0b80e04ba1ee" providerId="ADAL" clId="{3E170B51-9A38-45C8-8A13-AB3C322917DE}" dt="2026-10-02T14:00:21.162" v="642" actId="164"/>
          <ac:spMkLst>
            <pc:docMk/>
            <pc:sldMk cId="0" sldId="256"/>
            <ac:spMk id="44" creationId="{00000000-0000-0000-0000-000000000000}"/>
          </ac:spMkLst>
        </pc:spChg>
        <pc:spChg chg="mod">
          <ac:chgData name="Aldi Airori" userId="6cc6312a-c066-4180-82f9-0b80e04ba1ee" providerId="ADAL" clId="{3E170B51-9A38-45C8-8A13-AB3C322917DE}" dt="2026-10-02T14:00:21.162" v="642" actId="164"/>
          <ac:spMkLst>
            <pc:docMk/>
            <pc:sldMk cId="0" sldId="256"/>
            <ac:spMk id="45" creationId="{00000000-0000-0000-0000-000000000000}"/>
          </ac:spMkLst>
        </pc:spChg>
        <pc:spChg chg="mod">
          <ac:chgData name="Aldi Airori" userId="6cc6312a-c066-4180-82f9-0b80e04ba1ee" providerId="ADAL" clId="{3E170B51-9A38-45C8-8A13-AB3C322917DE}" dt="2026-10-02T14:00:21.162" v="642" actId="164"/>
          <ac:spMkLst>
            <pc:docMk/>
            <pc:sldMk cId="0" sldId="256"/>
            <ac:spMk id="47" creationId="{00000000-0000-0000-0000-000000000000}"/>
          </ac:spMkLst>
        </pc:spChg>
        <pc:spChg chg="mod">
          <ac:chgData name="Aldi Airori" userId="6cc6312a-c066-4180-82f9-0b80e04ba1ee" providerId="ADAL" clId="{3E170B51-9A38-45C8-8A13-AB3C322917DE}" dt="2026-10-02T14:00:21.162" v="642" actId="164"/>
          <ac:spMkLst>
            <pc:docMk/>
            <pc:sldMk cId="0" sldId="256"/>
            <ac:spMk id="48" creationId="{00000000-0000-0000-0000-000000000000}"/>
          </ac:spMkLst>
        </pc:spChg>
        <pc:spChg chg="mod">
          <ac:chgData name="Aldi Airori" userId="6cc6312a-c066-4180-82f9-0b80e04ba1ee" providerId="ADAL" clId="{3E170B51-9A38-45C8-8A13-AB3C322917DE}" dt="2026-10-02T14:00:21.162" v="642" actId="164"/>
          <ac:spMkLst>
            <pc:docMk/>
            <pc:sldMk cId="0" sldId="256"/>
            <ac:spMk id="50" creationId="{00000000-0000-0000-0000-000000000000}"/>
          </ac:spMkLst>
        </pc:spChg>
        <pc:spChg chg="mod">
          <ac:chgData name="Aldi Airori" userId="6cc6312a-c066-4180-82f9-0b80e04ba1ee" providerId="ADAL" clId="{3E170B51-9A38-45C8-8A13-AB3C322917DE}" dt="2026-10-02T14:00:21.162" v="642" actId="164"/>
          <ac:spMkLst>
            <pc:docMk/>
            <pc:sldMk cId="0" sldId="256"/>
            <ac:spMk id="51" creationId="{00000000-0000-0000-0000-000000000000}"/>
          </ac:spMkLst>
        </pc:spChg>
        <pc:spChg chg="mod">
          <ac:chgData name="Aldi Airori" userId="6cc6312a-c066-4180-82f9-0b80e04ba1ee" providerId="ADAL" clId="{3E170B51-9A38-45C8-8A13-AB3C322917DE}" dt="2026-10-02T14:00:21.162" v="642" actId="164"/>
          <ac:spMkLst>
            <pc:docMk/>
            <pc:sldMk cId="0" sldId="256"/>
            <ac:spMk id="52" creationId="{00000000-0000-0000-0000-000000000000}"/>
          </ac:spMkLst>
        </pc:spChg>
        <pc:spChg chg="mod">
          <ac:chgData name="Aldi Airori" userId="6cc6312a-c066-4180-82f9-0b80e04ba1ee" providerId="ADAL" clId="{3E170B51-9A38-45C8-8A13-AB3C322917DE}" dt="2026-10-02T14:00:21.162" v="642" actId="164"/>
          <ac:spMkLst>
            <pc:docMk/>
            <pc:sldMk cId="0" sldId="256"/>
            <ac:spMk id="53" creationId="{00000000-0000-0000-0000-000000000000}"/>
          </ac:spMkLst>
        </pc:spChg>
        <pc:spChg chg="mod">
          <ac:chgData name="Aldi Airori" userId="6cc6312a-c066-4180-82f9-0b80e04ba1ee" providerId="ADAL" clId="{3E170B51-9A38-45C8-8A13-AB3C322917DE}" dt="2026-10-02T14:00:21.162" v="642" actId="164"/>
          <ac:spMkLst>
            <pc:docMk/>
            <pc:sldMk cId="0" sldId="256"/>
            <ac:spMk id="54" creationId="{00000000-0000-0000-0000-000000000000}"/>
          </ac:spMkLst>
        </pc:spChg>
        <pc:spChg chg="mod ord">
          <ac:chgData name="Aldi Airori" userId="6cc6312a-c066-4180-82f9-0b80e04ba1ee" providerId="ADAL" clId="{3E170B51-9A38-45C8-8A13-AB3C322917DE}" dt="2026-10-02T15:58:52.753" v="1448" actId="1076"/>
          <ac:spMkLst>
            <pc:docMk/>
            <pc:sldMk cId="0" sldId="256"/>
            <ac:spMk id="66" creationId="{00000000-0000-0000-0000-000000000000}"/>
          </ac:spMkLst>
        </pc:spChg>
        <pc:spChg chg="mod">
          <ac:chgData name="Aldi Airori" userId="6cc6312a-c066-4180-82f9-0b80e04ba1ee" providerId="ADAL" clId="{3E170B51-9A38-45C8-8A13-AB3C322917DE}" dt="2026-09-24T21:13:40.257" v="577" actId="1076"/>
          <ac:spMkLst>
            <pc:docMk/>
            <pc:sldMk cId="0" sldId="256"/>
            <ac:spMk id="69" creationId="{00000000-0000-0000-0000-000000000000}"/>
          </ac:spMkLst>
        </pc:spChg>
        <pc:spChg chg="mod">
          <ac:chgData name="Aldi Airori" userId="6cc6312a-c066-4180-82f9-0b80e04ba1ee" providerId="ADAL" clId="{3E170B51-9A38-45C8-8A13-AB3C322917DE}" dt="2026-09-24T21:13:42.913" v="578" actId="1076"/>
          <ac:spMkLst>
            <pc:docMk/>
            <pc:sldMk cId="0" sldId="256"/>
            <ac:spMk id="71" creationId="{00000000-0000-0000-0000-000000000000}"/>
          </ac:spMkLst>
        </pc:spChg>
        <pc:spChg chg="mod">
          <ac:chgData name="Aldi Airori" userId="6cc6312a-c066-4180-82f9-0b80e04ba1ee" providerId="ADAL" clId="{3E170B51-9A38-45C8-8A13-AB3C322917DE}" dt="2026-09-21T21:13:09.384" v="83" actId="403"/>
          <ac:spMkLst>
            <pc:docMk/>
            <pc:sldMk cId="0" sldId="256"/>
            <ac:spMk id="72" creationId="{00000000-0000-0000-0000-000000000000}"/>
          </ac:spMkLst>
        </pc:spChg>
        <pc:spChg chg="mod">
          <ac:chgData name="Aldi Airori" userId="6cc6312a-c066-4180-82f9-0b80e04ba1ee" providerId="ADAL" clId="{3E170B51-9A38-45C8-8A13-AB3C322917DE}" dt="2026-10-02T14:02:15.258" v="646" actId="164"/>
          <ac:spMkLst>
            <pc:docMk/>
            <pc:sldMk cId="0" sldId="256"/>
            <ac:spMk id="77" creationId="{00000000-0000-0000-0000-000000000000}"/>
          </ac:spMkLst>
        </pc:spChg>
        <pc:spChg chg="mod">
          <ac:chgData name="Aldi Airori" userId="6cc6312a-c066-4180-82f9-0b80e04ba1ee" providerId="ADAL" clId="{3E170B51-9A38-45C8-8A13-AB3C322917DE}" dt="2026-10-02T14:02:15.258" v="646" actId="164"/>
          <ac:spMkLst>
            <pc:docMk/>
            <pc:sldMk cId="0" sldId="256"/>
            <ac:spMk id="78" creationId="{00000000-0000-0000-0000-000000000000}"/>
          </ac:spMkLst>
        </pc:spChg>
        <pc:spChg chg="mod">
          <ac:chgData name="Aldi Airori" userId="6cc6312a-c066-4180-82f9-0b80e04ba1ee" providerId="ADAL" clId="{3E170B51-9A38-45C8-8A13-AB3C322917DE}" dt="2026-09-23T16:09:34.985" v="502" actId="20577"/>
          <ac:spMkLst>
            <pc:docMk/>
            <pc:sldMk cId="0" sldId="256"/>
            <ac:spMk id="80" creationId="{00000000-0000-0000-0000-000000000000}"/>
          </ac:spMkLst>
        </pc:spChg>
        <pc:spChg chg="mod">
          <ac:chgData name="Aldi Airori" userId="6cc6312a-c066-4180-82f9-0b80e04ba1ee" providerId="ADAL" clId="{3E170B51-9A38-45C8-8A13-AB3C322917DE}" dt="2026-10-02T14:25:05.852" v="677" actId="1076"/>
          <ac:spMkLst>
            <pc:docMk/>
            <pc:sldMk cId="0" sldId="256"/>
            <ac:spMk id="81" creationId="{00000000-0000-0000-0000-000000000000}"/>
          </ac:spMkLst>
        </pc:spChg>
        <pc:spChg chg="mod">
          <ac:chgData name="Aldi Airori" userId="6cc6312a-c066-4180-82f9-0b80e04ba1ee" providerId="ADAL" clId="{3E170B51-9A38-45C8-8A13-AB3C322917DE}" dt="2026-09-21T21:50:39.457" v="308" actId="1076"/>
          <ac:spMkLst>
            <pc:docMk/>
            <pc:sldMk cId="0" sldId="256"/>
            <ac:spMk id="84" creationId="{00000000-0000-0000-0000-000000000000}"/>
          </ac:spMkLst>
        </pc:spChg>
        <pc:spChg chg="mod">
          <ac:chgData name="Aldi Airori" userId="6cc6312a-c066-4180-82f9-0b80e04ba1ee" providerId="ADAL" clId="{3E170B51-9A38-45C8-8A13-AB3C322917DE}" dt="2026-09-21T21:50:14.776" v="302" actId="164"/>
          <ac:spMkLst>
            <pc:docMk/>
            <pc:sldMk cId="0" sldId="256"/>
            <ac:spMk id="85" creationId="{00000000-0000-0000-0000-000000000000}"/>
          </ac:spMkLst>
        </pc:spChg>
        <pc:spChg chg="mod">
          <ac:chgData name="Aldi Airori" userId="6cc6312a-c066-4180-82f9-0b80e04ba1ee" providerId="ADAL" clId="{3E170B51-9A38-45C8-8A13-AB3C322917DE}" dt="2026-09-21T21:50:36.835" v="306" actId="1076"/>
          <ac:spMkLst>
            <pc:docMk/>
            <pc:sldMk cId="0" sldId="256"/>
            <ac:spMk id="86" creationId="{00000000-0000-0000-0000-000000000000}"/>
          </ac:spMkLst>
        </pc:spChg>
        <pc:spChg chg="mod">
          <ac:chgData name="Aldi Airori" userId="6cc6312a-c066-4180-82f9-0b80e04ba1ee" providerId="ADAL" clId="{3E170B51-9A38-45C8-8A13-AB3C322917DE}" dt="2026-09-21T21:50:27.557" v="303" actId="164"/>
          <ac:spMkLst>
            <pc:docMk/>
            <pc:sldMk cId="0" sldId="256"/>
            <ac:spMk id="87" creationId="{00000000-0000-0000-0000-000000000000}"/>
          </ac:spMkLst>
        </pc:spChg>
        <pc:spChg chg="mod">
          <ac:chgData name="Aldi Airori" userId="6cc6312a-c066-4180-82f9-0b80e04ba1ee" providerId="ADAL" clId="{3E170B51-9A38-45C8-8A13-AB3C322917DE}" dt="2026-09-21T21:50:27.557" v="303" actId="164"/>
          <ac:spMkLst>
            <pc:docMk/>
            <pc:sldMk cId="0" sldId="256"/>
            <ac:spMk id="88" creationId="{00000000-0000-0000-0000-000000000000}"/>
          </ac:spMkLst>
        </pc:spChg>
        <pc:spChg chg="mod">
          <ac:chgData name="Aldi Airori" userId="6cc6312a-c066-4180-82f9-0b80e04ba1ee" providerId="ADAL" clId="{3E170B51-9A38-45C8-8A13-AB3C322917DE}" dt="2026-09-21T21:50:27.557" v="303" actId="164"/>
          <ac:spMkLst>
            <pc:docMk/>
            <pc:sldMk cId="0" sldId="256"/>
            <ac:spMk id="89" creationId="{00000000-0000-0000-0000-000000000000}"/>
          </ac:spMkLst>
        </pc:spChg>
        <pc:spChg chg="add mod ord">
          <ac:chgData name="Aldi Airori" userId="6cc6312a-c066-4180-82f9-0b80e04ba1ee" providerId="ADAL" clId="{3E170B51-9A38-45C8-8A13-AB3C322917DE}" dt="2026-09-21T22:30:39.956" v="451" actId="14100"/>
          <ac:spMkLst>
            <pc:docMk/>
            <pc:sldMk cId="0" sldId="256"/>
            <ac:spMk id="102" creationId="{ED8B81E5-E392-AE57-2B70-6E3C84C522BF}"/>
          </ac:spMkLst>
        </pc:spChg>
        <pc:spChg chg="add mod">
          <ac:chgData name="Aldi Airori" userId="6cc6312a-c066-4180-82f9-0b80e04ba1ee" providerId="ADAL" clId="{3E170B51-9A38-45C8-8A13-AB3C322917DE}" dt="2026-10-02T14:04:30.871" v="654" actId="1076"/>
          <ac:spMkLst>
            <pc:docMk/>
            <pc:sldMk cId="0" sldId="256"/>
            <ac:spMk id="113" creationId="{E1F1D75F-80A4-7DF9-E3EB-F26E5AF39144}"/>
          </ac:spMkLst>
        </pc:spChg>
        <pc:spChg chg="add mod">
          <ac:chgData name="Aldi Airori" userId="6cc6312a-c066-4180-82f9-0b80e04ba1ee" providerId="ADAL" clId="{3E170B51-9A38-45C8-8A13-AB3C322917DE}" dt="2026-10-05T15:45:16.099" v="1477" actId="20577"/>
          <ac:spMkLst>
            <pc:docMk/>
            <pc:sldMk cId="0" sldId="256"/>
            <ac:spMk id="115" creationId="{97C3808E-7D76-61AA-773A-AA4DA55AFFDF}"/>
          </ac:spMkLst>
        </pc:spChg>
        <pc:spChg chg="mod">
          <ac:chgData name="Aldi Airori" userId="6cc6312a-c066-4180-82f9-0b80e04ba1ee" providerId="ADAL" clId="{3E170B51-9A38-45C8-8A13-AB3C322917DE}" dt="2026-10-05T17:10:41.854" v="1491" actId="1076"/>
          <ac:spMkLst>
            <pc:docMk/>
            <pc:sldMk cId="0" sldId="256"/>
            <ac:spMk id="117" creationId="{00000000-0000-0000-0000-000000000000}"/>
          </ac:spMkLst>
        </pc:spChg>
        <pc:spChg chg="mod">
          <ac:chgData name="Aldi Airori" userId="6cc6312a-c066-4180-82f9-0b80e04ba1ee" providerId="ADAL" clId="{3E170B51-9A38-45C8-8A13-AB3C322917DE}" dt="2026-10-05T17:10:41.854" v="1491" actId="1076"/>
          <ac:spMkLst>
            <pc:docMk/>
            <pc:sldMk cId="0" sldId="256"/>
            <ac:spMk id="118" creationId="{00000000-0000-0000-0000-000000000000}"/>
          </ac:spMkLst>
        </pc:spChg>
        <pc:spChg chg="mod">
          <ac:chgData name="Aldi Airori" userId="6cc6312a-c066-4180-82f9-0b80e04ba1ee" providerId="ADAL" clId="{3E170B51-9A38-45C8-8A13-AB3C322917DE}" dt="2026-10-01T18:17:54.085" v="587" actId="20577"/>
          <ac:spMkLst>
            <pc:docMk/>
            <pc:sldMk cId="0" sldId="256"/>
            <ac:spMk id="119" creationId="{00000000-0000-0000-0000-000000000000}"/>
          </ac:spMkLst>
        </pc:spChg>
        <pc:spChg chg="del mod">
          <ac:chgData name="Aldi Airori" userId="6cc6312a-c066-4180-82f9-0b80e04ba1ee" providerId="ADAL" clId="{3E170B51-9A38-45C8-8A13-AB3C322917DE}" dt="2026-10-05T17:10:18.488" v="1490" actId="478"/>
          <ac:spMkLst>
            <pc:docMk/>
            <pc:sldMk cId="0" sldId="256"/>
            <ac:spMk id="120" creationId="{00000000-0000-0000-0000-000000000000}"/>
          </ac:spMkLst>
        </pc:spChg>
        <pc:spChg chg="mod">
          <ac:chgData name="Aldi Airori" userId="6cc6312a-c066-4180-82f9-0b80e04ba1ee" providerId="ADAL" clId="{3E170B51-9A38-45C8-8A13-AB3C322917DE}" dt="2026-10-01T18:18:04.766" v="589" actId="20577"/>
          <ac:spMkLst>
            <pc:docMk/>
            <pc:sldMk cId="0" sldId="256"/>
            <ac:spMk id="121" creationId="{00000000-0000-0000-0000-000000000000}"/>
          </ac:spMkLst>
        </pc:spChg>
        <pc:spChg chg="mod">
          <ac:chgData name="Aldi Airori" userId="6cc6312a-c066-4180-82f9-0b80e04ba1ee" providerId="ADAL" clId="{3E170B51-9A38-45C8-8A13-AB3C322917DE}" dt="2026-10-05T17:10:41.854" v="1491" actId="1076"/>
          <ac:spMkLst>
            <pc:docMk/>
            <pc:sldMk cId="0" sldId="256"/>
            <ac:spMk id="122" creationId="{00000000-0000-0000-0000-000000000000}"/>
          </ac:spMkLst>
        </pc:spChg>
        <pc:spChg chg="mod">
          <ac:chgData name="Aldi Airori" userId="6cc6312a-c066-4180-82f9-0b80e04ba1ee" providerId="ADAL" clId="{3E170B51-9A38-45C8-8A13-AB3C322917DE}" dt="2026-10-05T19:46:01.100" v="1544" actId="20577"/>
          <ac:spMkLst>
            <pc:docMk/>
            <pc:sldMk cId="0" sldId="256"/>
            <ac:spMk id="124" creationId="{00000000-0000-0000-0000-000000000000}"/>
          </ac:spMkLst>
        </pc:spChg>
        <pc:spChg chg="mod">
          <ac:chgData name="Aldi Airori" userId="6cc6312a-c066-4180-82f9-0b80e04ba1ee" providerId="ADAL" clId="{3E170B51-9A38-45C8-8A13-AB3C322917DE}" dt="2026-10-02T16:00:37.663" v="1462" actId="1076"/>
          <ac:spMkLst>
            <pc:docMk/>
            <pc:sldMk cId="0" sldId="256"/>
            <ac:spMk id="125" creationId="{00000000-0000-0000-0000-000000000000}"/>
          </ac:spMkLst>
        </pc:spChg>
        <pc:spChg chg="mod topLvl">
          <ac:chgData name="Aldi Airori" userId="6cc6312a-c066-4180-82f9-0b80e04ba1ee" providerId="ADAL" clId="{3E170B51-9A38-45C8-8A13-AB3C322917DE}" dt="2026-10-02T16:04:49.994" v="1465" actId="948"/>
          <ac:spMkLst>
            <pc:docMk/>
            <pc:sldMk cId="0" sldId="256"/>
            <ac:spMk id="126" creationId="{00000000-0000-0000-0000-000000000000}"/>
          </ac:spMkLst>
        </pc:spChg>
        <pc:grpChg chg="add mod">
          <ac:chgData name="Aldi Airori" userId="6cc6312a-c066-4180-82f9-0b80e04ba1ee" providerId="ADAL" clId="{3E170B51-9A38-45C8-8A13-AB3C322917DE}" dt="2026-10-05T17:10:41.854" v="1491" actId="1076"/>
          <ac:grpSpMkLst>
            <pc:docMk/>
            <pc:sldMk cId="0" sldId="256"/>
            <ac:grpSpMk id="3" creationId="{E1D15B2B-3BDE-6C1D-44F8-A1120A952508}"/>
          </ac:grpSpMkLst>
        </pc:grpChg>
        <pc:grpChg chg="mod">
          <ac:chgData name="Aldi Airori" userId="6cc6312a-c066-4180-82f9-0b80e04ba1ee" providerId="ADAL" clId="{3E170B51-9A38-45C8-8A13-AB3C322917DE}" dt="2026-10-02T16:00:23.028" v="1460" actId="1076"/>
          <ac:grpSpMkLst>
            <pc:docMk/>
            <pc:sldMk cId="0" sldId="256"/>
            <ac:grpSpMk id="34" creationId="{2CA15FE4-45BF-0263-B022-311B96B2896A}"/>
          </ac:grpSpMkLst>
        </pc:grpChg>
        <pc:grpChg chg="add mod">
          <ac:chgData name="Aldi Airori" userId="6cc6312a-c066-4180-82f9-0b80e04ba1ee" providerId="ADAL" clId="{3E170B51-9A38-45C8-8A13-AB3C322917DE}" dt="2026-10-02T14:01:54.035" v="645" actId="1076"/>
          <ac:grpSpMkLst>
            <pc:docMk/>
            <pc:sldMk cId="0" sldId="256"/>
            <ac:grpSpMk id="35" creationId="{DCFFEC6A-B91D-FE9B-06E4-11F464DC3796}"/>
          </ac:grpSpMkLst>
        </pc:grpChg>
        <pc:grpChg chg="add mod">
          <ac:chgData name="Aldi Airori" userId="6cc6312a-c066-4180-82f9-0b80e04ba1ee" providerId="ADAL" clId="{3E170B51-9A38-45C8-8A13-AB3C322917DE}" dt="2026-10-02T14:04:38.844" v="655" actId="1076"/>
          <ac:grpSpMkLst>
            <pc:docMk/>
            <pc:sldMk cId="0" sldId="256"/>
            <ac:grpSpMk id="38" creationId="{0675AF2E-1DC6-B279-F37A-E39D22C272D1}"/>
          </ac:grpSpMkLst>
        </pc:grpChg>
        <pc:grpChg chg="add mod">
          <ac:chgData name="Aldi Airori" userId="6cc6312a-c066-4180-82f9-0b80e04ba1ee" providerId="ADAL" clId="{3E170B51-9A38-45C8-8A13-AB3C322917DE}" dt="2026-10-02T15:59:50.404" v="1455" actId="1076"/>
          <ac:grpSpMkLst>
            <pc:docMk/>
            <pc:sldMk cId="0" sldId="256"/>
            <ac:grpSpMk id="64" creationId="{CAB4C1CC-11CD-1B09-7A37-00F11DF6ED6E}"/>
          </ac:grpSpMkLst>
        </pc:grpChg>
        <pc:grpChg chg="add mod">
          <ac:chgData name="Aldi Airori" userId="6cc6312a-c066-4180-82f9-0b80e04ba1ee" providerId="ADAL" clId="{3E170B51-9A38-45C8-8A13-AB3C322917DE}" dt="2026-09-21T21:11:27.117" v="44" actId="1076"/>
          <ac:grpSpMkLst>
            <pc:docMk/>
            <pc:sldMk cId="0" sldId="256"/>
            <ac:grpSpMk id="107" creationId="{14BAF773-D649-8007-7477-1F1AA69EA719}"/>
          </ac:grpSpMkLst>
        </pc:grpChg>
        <pc:grpChg chg="add mod">
          <ac:chgData name="Aldi Airori" userId="6cc6312a-c066-4180-82f9-0b80e04ba1ee" providerId="ADAL" clId="{3E170B51-9A38-45C8-8A13-AB3C322917DE}" dt="2026-09-21T21:50:44.790" v="309" actId="1076"/>
          <ac:grpSpMkLst>
            <pc:docMk/>
            <pc:sldMk cId="0" sldId="256"/>
            <ac:grpSpMk id="110" creationId="{B94E288F-714F-AF18-4EE4-523D6F3D5629}"/>
          </ac:grpSpMkLst>
        </pc:grpChg>
        <pc:grpChg chg="add mod">
          <ac:chgData name="Aldi Airori" userId="6cc6312a-c066-4180-82f9-0b80e04ba1ee" providerId="ADAL" clId="{3E170B51-9A38-45C8-8A13-AB3C322917DE}" dt="2026-09-21T21:50:56.496" v="312" actId="1076"/>
          <ac:grpSpMkLst>
            <pc:docMk/>
            <pc:sldMk cId="0" sldId="256"/>
            <ac:grpSpMk id="111" creationId="{640A6C61-487E-E94A-FB83-CF8DB4E9B894}"/>
          </ac:grpSpMkLst>
        </pc:grpChg>
        <pc:graphicFrameChg chg="modGraphic">
          <ac:chgData name="Aldi Airori" userId="6cc6312a-c066-4180-82f9-0b80e04ba1ee" providerId="ADAL" clId="{3E170B51-9A38-45C8-8A13-AB3C322917DE}" dt="2026-10-05T15:45:23.635" v="1489" actId="20577"/>
          <ac:graphicFrameMkLst>
            <pc:docMk/>
            <pc:sldMk cId="0" sldId="256"/>
            <ac:graphicFrameMk id="116" creationId="{00000000-0000-0000-0000-000000000000}"/>
          </ac:graphicFrameMkLst>
        </pc:graphicFrameChg>
        <pc:picChg chg="mod">
          <ac:chgData name="Aldi Airori" userId="6cc6312a-c066-4180-82f9-0b80e04ba1ee" providerId="ADAL" clId="{3E170B51-9A38-45C8-8A13-AB3C322917DE}" dt="2026-10-02T15:59:23.546" v="1451" actId="164"/>
          <ac:picMkLst>
            <pc:docMk/>
            <pc:sldMk cId="0" sldId="256"/>
            <ac:picMk id="36" creationId="{22925429-D8C5-80FA-CEB9-A4D268662056}"/>
          </ac:picMkLst>
        </pc:picChg>
        <pc:picChg chg="add mod">
          <ac:chgData name="Aldi Airori" userId="6cc6312a-c066-4180-82f9-0b80e04ba1ee" providerId="ADAL" clId="{3E170B51-9A38-45C8-8A13-AB3C322917DE}" dt="2026-10-02T15:58:58.736" v="1450" actId="1076"/>
          <ac:picMkLst>
            <pc:docMk/>
            <pc:sldMk cId="0" sldId="256"/>
            <ac:picMk id="75" creationId="{24E6F916-6B60-C9AC-EE7D-F14BB5ACBB92}"/>
          </ac:picMkLst>
        </pc:picChg>
        <pc:picChg chg="add mod">
          <ac:chgData name="Aldi Airori" userId="6cc6312a-c066-4180-82f9-0b80e04ba1ee" providerId="ADAL" clId="{3E170B51-9A38-45C8-8A13-AB3C322917DE}" dt="2026-09-24T16:45:38.682" v="559" actId="14826"/>
          <ac:picMkLst>
            <pc:docMk/>
            <pc:sldMk cId="0" sldId="256"/>
            <ac:picMk id="106" creationId="{9F653E23-736B-BD38-B79E-B26A449564D5}"/>
          </ac:picMkLst>
        </pc:picChg>
        <pc:cxnChg chg="mod">
          <ac:chgData name="Aldi Airori" userId="6cc6312a-c066-4180-82f9-0b80e04ba1ee" providerId="ADAL" clId="{3E170B51-9A38-45C8-8A13-AB3C322917DE}" dt="2026-10-02T15:59:23.546" v="1451" actId="164"/>
          <ac:cxnSpMkLst>
            <pc:docMk/>
            <pc:sldMk cId="0" sldId="256"/>
            <ac:cxnSpMk id="41" creationId="{4398976C-04E5-546B-6F41-9FB7C7FB59CE}"/>
          </ac:cxnSpMkLst>
        </pc:cxnChg>
        <pc:cxnChg chg="add mod">
          <ac:chgData name="Aldi Airori" userId="6cc6312a-c066-4180-82f9-0b80e04ba1ee" providerId="ADAL" clId="{3E170B51-9A38-45C8-8A13-AB3C322917DE}" dt="2026-09-21T21:01:13.712" v="14" actId="208"/>
          <ac:cxnSpMkLst>
            <pc:docMk/>
            <pc:sldMk cId="0" sldId="256"/>
            <ac:cxnSpMk id="95" creationId="{65D2C0E4-0586-8008-1931-72638BEB9198}"/>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64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Fonts: Barlow and Barlow Condensed (free, Google Fonts). Install both before editing so text fits as designed. Placeholders to replace: UNL logo, QR code, holdout figure (panel4_holdout.png from the Colab cell).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66" name="Shape 63"/>
          <p:cNvSpPr/>
          <p:nvPr/>
        </p:nvSpPr>
        <p:spPr>
          <a:xfrm>
            <a:off x="13177699" y="37273998"/>
            <a:ext cx="14017752" cy="2528005"/>
          </a:xfrm>
          <a:prstGeom prst="roundRect">
            <a:avLst>
              <a:gd name="adj" fmla="val 3141"/>
            </a:avLst>
          </a:prstGeom>
          <a:solidFill>
            <a:srgbClr val="F5F1E7"/>
          </a:solidFill>
          <a:ln/>
        </p:spPr>
        <p:txBody>
          <a:bodyPr/>
          <a:lstStyle/>
          <a:p>
            <a:endParaRPr lang="en-US" dirty="0"/>
          </a:p>
        </p:txBody>
      </p:sp>
      <p:sp>
        <p:nvSpPr>
          <p:cNvPr id="102" name="Shape 63">
            <a:extLst>
              <a:ext uri="{FF2B5EF4-FFF2-40B4-BE49-F238E27FC236}">
                <a16:creationId xmlns:a16="http://schemas.microsoft.com/office/drawing/2014/main" id="{ED8B81E5-E392-AE57-2B70-6E3C84C522BF}"/>
              </a:ext>
            </a:extLst>
          </p:cNvPr>
          <p:cNvSpPr/>
          <p:nvPr/>
        </p:nvSpPr>
        <p:spPr>
          <a:xfrm>
            <a:off x="13716" y="-26705"/>
            <a:ext cx="40219884" cy="6362243"/>
          </a:xfrm>
          <a:prstGeom prst="roundRect">
            <a:avLst>
              <a:gd name="adj" fmla="val 3141"/>
            </a:avLst>
          </a:prstGeom>
          <a:solidFill>
            <a:srgbClr val="F5F1E7"/>
          </a:solidFill>
          <a:ln/>
        </p:spPr>
        <p:txBody>
          <a:bodyPr/>
          <a:lstStyle/>
          <a:p>
            <a:endParaRPr lang="en-US"/>
          </a:p>
        </p:txBody>
      </p:sp>
      <p:grpSp>
        <p:nvGrpSpPr>
          <p:cNvPr id="107" name="Group 106">
            <a:extLst>
              <a:ext uri="{FF2B5EF4-FFF2-40B4-BE49-F238E27FC236}">
                <a16:creationId xmlns:a16="http://schemas.microsoft.com/office/drawing/2014/main" id="{14BAF773-D649-8007-7477-1F1AA69EA719}"/>
              </a:ext>
            </a:extLst>
          </p:cNvPr>
          <p:cNvGrpSpPr/>
          <p:nvPr/>
        </p:nvGrpSpPr>
        <p:grpSpPr>
          <a:xfrm>
            <a:off x="8286750" y="655980"/>
            <a:ext cx="38376362" cy="5145721"/>
            <a:chOff x="5905500" y="590550"/>
            <a:chExt cx="38376362" cy="5145721"/>
          </a:xfrm>
        </p:grpSpPr>
        <p:sp>
          <p:nvSpPr>
            <p:cNvPr id="4" name="Text 2"/>
            <p:cNvSpPr txBox="1"/>
            <p:nvPr/>
          </p:nvSpPr>
          <p:spPr>
            <a:xfrm>
              <a:off x="5905500" y="590550"/>
              <a:ext cx="28452536" cy="3229618"/>
            </a:xfrm>
            <a:prstGeom prst="rect">
              <a:avLst/>
            </a:prstGeom>
            <a:noFill/>
            <a:ln/>
          </p:spPr>
          <p:txBody>
            <a:bodyPr wrap="square" lIns="0" tIns="0" rIns="0" bIns="0" rtlCol="0" anchor="t"/>
            <a:lstStyle/>
            <a:p>
              <a:pPr marL="0" indent="0" algn="l">
                <a:lnSpc>
                  <a:spcPts val="11340"/>
                </a:lnSpc>
                <a:buNone/>
              </a:pPr>
              <a:r>
                <a:rPr lang="en-US" sz="10800" b="1" dirty="0">
                  <a:solidFill>
                    <a:srgbClr val="242424"/>
                  </a:solidFill>
                  <a:latin typeface="Barlow Condensed" pitchFamily="34" charset="0"/>
                  <a:ea typeface="Barlow Condensed" pitchFamily="34" charset="-122"/>
                  <a:cs typeface="Barlow Condensed" pitchFamily="34" charset="-120"/>
                </a:rPr>
                <a:t>A Data Fusion Framework for Covariate Prioritization in Incomplete Short-Term Soil Nitrogen Records</a:t>
              </a:r>
              <a:endParaRPr lang="en-US" sz="10800" dirty="0"/>
            </a:p>
          </p:txBody>
        </p:sp>
        <p:sp>
          <p:nvSpPr>
            <p:cNvPr id="5" name="Text 3"/>
            <p:cNvSpPr txBox="1"/>
            <p:nvPr/>
          </p:nvSpPr>
          <p:spPr>
            <a:xfrm>
              <a:off x="5905500" y="3555798"/>
              <a:ext cx="38363843" cy="676466"/>
            </a:xfrm>
            <a:prstGeom prst="rect">
              <a:avLst/>
            </a:prstGeom>
            <a:noFill/>
            <a:ln/>
          </p:spPr>
          <p:txBody>
            <a:bodyPr wrap="none" lIns="0" tIns="0" rIns="0" bIns="0" rtlCol="0" anchor="t"/>
            <a:lstStyle/>
            <a:p>
              <a:pPr marL="0" indent="0" algn="l">
                <a:lnSpc>
                  <a:spcPts val="5040"/>
                </a:lnSpc>
                <a:buNone/>
              </a:pPr>
              <a:r>
                <a:rPr lang="en-US" sz="4500" dirty="0">
                  <a:solidFill>
                    <a:srgbClr val="D00000"/>
                  </a:solidFill>
                  <a:latin typeface="Barlow Medium" pitchFamily="34" charset="0"/>
                  <a:ea typeface="Barlow Medium" pitchFamily="34" charset="-122"/>
                  <a:cs typeface="Barlow Medium" pitchFamily="34" charset="-120"/>
                </a:rPr>
                <a:t>Conditional effects, importance-method disagreement, and predictive limits in a five-year grazing and cover crop trial</a:t>
              </a:r>
              <a:endParaRPr lang="en-US" sz="4500" dirty="0"/>
            </a:p>
          </p:txBody>
        </p:sp>
        <p:sp>
          <p:nvSpPr>
            <p:cNvPr id="6" name="Text 4"/>
            <p:cNvSpPr txBox="1"/>
            <p:nvPr/>
          </p:nvSpPr>
          <p:spPr>
            <a:xfrm>
              <a:off x="5905500" y="4504730"/>
              <a:ext cx="38363843" cy="535115"/>
            </a:xfrm>
            <a:prstGeom prst="rect">
              <a:avLst/>
            </a:prstGeom>
            <a:noFill/>
            <a:ln/>
          </p:spPr>
          <p:txBody>
            <a:bodyPr wrap="none" lIns="0" tIns="0" rIns="0" bIns="0" rtlCol="0" anchor="t"/>
            <a:lstStyle/>
            <a:p>
              <a:pPr>
                <a:lnSpc>
                  <a:spcPts val="4290"/>
                </a:lnSpc>
              </a:pPr>
              <a:r>
                <a:rPr lang="en-US" sz="3600" dirty="0">
                  <a:solidFill>
                    <a:srgbClr val="242424"/>
                  </a:solidFill>
                  <a:latin typeface="Barlow SemiBold" pitchFamily="34" charset="0"/>
                  <a:ea typeface="Barlow SemiBold" pitchFamily="34" charset="-122"/>
                  <a:cs typeface="Barlow SemiBold" pitchFamily="34" charset="-120"/>
                </a:rPr>
                <a:t>Aldi Airori · Martha Mamo · John Guretzky · Sruti Das Choudhury · Tsegaye Legesse · Gandura Abagandura</a:t>
              </a:r>
              <a:endParaRPr lang="en-US" sz="3600" dirty="0"/>
            </a:p>
          </p:txBody>
        </p:sp>
        <p:sp>
          <p:nvSpPr>
            <p:cNvPr id="7" name="Text 5"/>
            <p:cNvSpPr txBox="1"/>
            <p:nvPr/>
          </p:nvSpPr>
          <p:spPr>
            <a:xfrm>
              <a:off x="5918019" y="5271832"/>
              <a:ext cx="38363843" cy="464439"/>
            </a:xfrm>
            <a:prstGeom prst="rect">
              <a:avLst/>
            </a:prstGeom>
            <a:noFill/>
            <a:ln/>
          </p:spPr>
          <p:txBody>
            <a:bodyPr wrap="none" lIns="0" tIns="0" rIns="0" bIns="0" rtlCol="0" anchor="t"/>
            <a:lstStyle/>
            <a:p>
              <a:pPr marL="0" indent="0" algn="l">
                <a:lnSpc>
                  <a:spcPts val="3710"/>
                </a:lnSpc>
                <a:buNone/>
              </a:pPr>
              <a:r>
                <a:rPr lang="en-US" sz="3600" dirty="0">
                  <a:solidFill>
                    <a:srgbClr val="5E5E5E"/>
                  </a:solidFill>
                  <a:latin typeface="Barlow" pitchFamily="34" charset="0"/>
                  <a:ea typeface="Barlow" pitchFamily="34" charset="-122"/>
                  <a:cs typeface="Barlow" pitchFamily="34" charset="-120"/>
                </a:rPr>
                <a:t>Department of Agronomy and Horticulture · School of Natural Resources · University of Nebraska–Lincoln</a:t>
              </a:r>
              <a:endParaRPr lang="en-US" sz="3600" dirty="0"/>
            </a:p>
          </p:txBody>
        </p:sp>
      </p:grpSp>
      <p:sp>
        <p:nvSpPr>
          <p:cNvPr id="8" name="Text 6"/>
          <p:cNvSpPr txBox="1"/>
          <p:nvPr/>
        </p:nvSpPr>
        <p:spPr>
          <a:xfrm>
            <a:off x="1047750" y="7044438"/>
            <a:ext cx="13235940" cy="797624"/>
          </a:xfrm>
          <a:prstGeom prst="rect">
            <a:avLst/>
          </a:prstGeom>
          <a:noFill/>
          <a:ln/>
        </p:spPr>
        <p:txBody>
          <a:bodyPr wrap="none" lIns="0" tIns="0" rIns="0" bIns="0" rtlCol="0" anchor="t"/>
          <a:lstStyle/>
          <a:p>
            <a:pPr marL="0" indent="0" algn="l">
              <a:lnSpc>
                <a:spcPts val="5200"/>
              </a:lnSpc>
              <a:buNone/>
            </a:pPr>
            <a:r>
              <a:rPr lang="en-US" sz="6000" b="1" kern="0" spc="150" dirty="0">
                <a:solidFill>
                  <a:srgbClr val="D00000"/>
                </a:solidFill>
                <a:latin typeface="Barlow Condensed" pitchFamily="34" charset="0"/>
                <a:ea typeface="Barlow Condensed" pitchFamily="34" charset="-122"/>
                <a:cs typeface="Barlow Condensed" pitchFamily="34" charset="-120"/>
              </a:rPr>
              <a:t>INTRODUCTION</a:t>
            </a:r>
            <a:endParaRPr lang="en-US" sz="6000" dirty="0"/>
          </a:p>
        </p:txBody>
      </p:sp>
      <p:grpSp>
        <p:nvGrpSpPr>
          <p:cNvPr id="35" name="Group 34">
            <a:extLst>
              <a:ext uri="{FF2B5EF4-FFF2-40B4-BE49-F238E27FC236}">
                <a16:creationId xmlns:a16="http://schemas.microsoft.com/office/drawing/2014/main" id="{DCFFEC6A-B91D-FE9B-06E4-11F464DC3796}"/>
              </a:ext>
            </a:extLst>
          </p:cNvPr>
          <p:cNvGrpSpPr/>
          <p:nvPr/>
        </p:nvGrpSpPr>
        <p:grpSpPr>
          <a:xfrm>
            <a:off x="1020318" y="7751083"/>
            <a:ext cx="11504581" cy="5441978"/>
            <a:chOff x="1020318" y="7686239"/>
            <a:chExt cx="11504581" cy="5441978"/>
          </a:xfrm>
        </p:grpSpPr>
        <p:sp>
          <p:nvSpPr>
            <p:cNvPr id="9" name="Text 7"/>
            <p:cNvSpPr txBox="1"/>
            <p:nvPr/>
          </p:nvSpPr>
          <p:spPr>
            <a:xfrm>
              <a:off x="1020318" y="7686239"/>
              <a:ext cx="11457432" cy="2673364"/>
            </a:xfrm>
            <a:prstGeom prst="rect">
              <a:avLst/>
            </a:prstGeom>
            <a:noFill/>
            <a:ln/>
          </p:spPr>
          <p:txBody>
            <a:bodyPr wrap="square" lIns="0" tIns="0" rIns="0" bIns="0" rtlCol="0" anchor="t"/>
            <a:lstStyle/>
            <a:p>
              <a:pPr marL="0" indent="0" algn="l">
                <a:lnSpc>
                  <a:spcPts val="5150"/>
                </a:lnSpc>
                <a:buNone/>
              </a:pPr>
              <a:r>
                <a:rPr lang="en-US" sz="3300" dirty="0">
                  <a:solidFill>
                    <a:srgbClr val="242424"/>
                  </a:solidFill>
                  <a:latin typeface="Barlow" pitchFamily="34" charset="0"/>
                  <a:ea typeface="Barlow" pitchFamily="34" charset="-122"/>
                  <a:cs typeface="Barlow" pitchFamily="34" charset="-120"/>
                </a:rPr>
                <a:t>Long-term trials are the benchmark for evaluating grazing and cover crop systems, but most soil records are short and incomplete, with measurements available only for certain years, treatments, or sampling times.</a:t>
              </a:r>
              <a:endParaRPr lang="en-US" sz="3300" dirty="0"/>
            </a:p>
          </p:txBody>
        </p:sp>
        <p:sp>
          <p:nvSpPr>
            <p:cNvPr id="10" name="Text 8"/>
            <p:cNvSpPr txBox="1"/>
            <p:nvPr/>
          </p:nvSpPr>
          <p:spPr>
            <a:xfrm>
              <a:off x="1067467" y="10454853"/>
              <a:ext cx="11457432" cy="2673364"/>
            </a:xfrm>
            <a:prstGeom prst="rect">
              <a:avLst/>
            </a:prstGeom>
            <a:noFill/>
            <a:ln/>
          </p:spPr>
          <p:txBody>
            <a:bodyPr wrap="square" lIns="0" tIns="0" rIns="0" bIns="0" rtlCol="0" anchor="t"/>
            <a:lstStyle/>
            <a:p>
              <a:pPr marL="0" indent="0" algn="l">
                <a:lnSpc>
                  <a:spcPts val="5150"/>
                </a:lnSpc>
                <a:buNone/>
              </a:pPr>
              <a:r>
                <a:rPr lang="en-US" sz="3300" dirty="0">
                  <a:solidFill>
                    <a:srgbClr val="242424"/>
                  </a:solidFill>
                  <a:latin typeface="Barlow" pitchFamily="34" charset="0"/>
                  <a:ea typeface="Barlow" pitchFamily="34" charset="-122"/>
                  <a:cs typeface="Barlow" pitchFamily="34" charset="-120"/>
                </a:rPr>
                <a:t>Remote sensing and machine learning now make it possible to integrate such records and use them for prediction. Whether a short-term analysis, i.e., a five-year record, provides sufficient information for reliable prediction is rarely evaluated.</a:t>
              </a:r>
              <a:endParaRPr lang="en-US" sz="3300" dirty="0"/>
            </a:p>
          </p:txBody>
        </p:sp>
      </p:grpSp>
      <p:sp>
        <p:nvSpPr>
          <p:cNvPr id="11" name="Text 9"/>
          <p:cNvSpPr txBox="1"/>
          <p:nvPr/>
        </p:nvSpPr>
        <p:spPr>
          <a:xfrm>
            <a:off x="1047750" y="13474083"/>
            <a:ext cx="13235940" cy="797624"/>
          </a:xfrm>
          <a:prstGeom prst="rect">
            <a:avLst/>
          </a:prstGeom>
          <a:noFill/>
          <a:ln/>
        </p:spPr>
        <p:txBody>
          <a:bodyPr wrap="none" lIns="0" tIns="0" rIns="0" bIns="0" rtlCol="0" anchor="t"/>
          <a:lstStyle/>
          <a:p>
            <a:pPr marL="0" indent="0" algn="l">
              <a:lnSpc>
                <a:spcPts val="5200"/>
              </a:lnSpc>
              <a:buNone/>
            </a:pPr>
            <a:r>
              <a:rPr lang="en-US" sz="6000" b="1" kern="0" spc="150" dirty="0">
                <a:solidFill>
                  <a:srgbClr val="D00000"/>
                </a:solidFill>
                <a:latin typeface="Barlow Condensed" pitchFamily="34" charset="0"/>
                <a:ea typeface="Barlow Condensed" pitchFamily="34" charset="-122"/>
                <a:cs typeface="Barlow Condensed" pitchFamily="34" charset="-120"/>
              </a:rPr>
              <a:t>OBJECTIVES</a:t>
            </a:r>
            <a:endParaRPr lang="en-US" sz="4950" dirty="0"/>
          </a:p>
        </p:txBody>
      </p:sp>
      <p:sp>
        <p:nvSpPr>
          <p:cNvPr id="12" name="Text 10"/>
          <p:cNvSpPr txBox="1"/>
          <p:nvPr/>
        </p:nvSpPr>
        <p:spPr>
          <a:xfrm>
            <a:off x="1097042" y="14231206"/>
            <a:ext cx="266700" cy="686562"/>
          </a:xfrm>
          <a:prstGeom prst="rect">
            <a:avLst/>
          </a:prstGeom>
          <a:noFill/>
          <a:ln/>
        </p:spPr>
        <p:txBody>
          <a:bodyPr wrap="none" lIns="0" tIns="0" rIns="0" bIns="0" rtlCol="0" anchor="t"/>
          <a:lstStyle/>
          <a:p>
            <a:pPr marL="0" indent="0" algn="l">
              <a:lnSpc>
                <a:spcPts val="5990"/>
              </a:lnSpc>
              <a:buNone/>
            </a:pPr>
            <a:r>
              <a:rPr lang="en-US" sz="4280" b="1" dirty="0">
                <a:solidFill>
                  <a:srgbClr val="D00000"/>
                </a:solidFill>
                <a:latin typeface="Barlow Condensed" pitchFamily="34" charset="0"/>
                <a:ea typeface="Barlow Condensed" pitchFamily="34" charset="-122"/>
                <a:cs typeface="Barlow Condensed" pitchFamily="34" charset="-120"/>
              </a:rPr>
              <a:t>1</a:t>
            </a:r>
            <a:endParaRPr lang="en-US" sz="4280" dirty="0"/>
          </a:p>
        </p:txBody>
      </p:sp>
      <p:sp>
        <p:nvSpPr>
          <p:cNvPr id="13" name="Text 11"/>
          <p:cNvSpPr txBox="1"/>
          <p:nvPr/>
        </p:nvSpPr>
        <p:spPr>
          <a:xfrm>
            <a:off x="1466850" y="14229580"/>
            <a:ext cx="10260932" cy="1288250"/>
          </a:xfrm>
          <a:prstGeom prst="rect">
            <a:avLst/>
          </a:prstGeom>
          <a:noFill/>
          <a:ln/>
        </p:spPr>
        <p:txBody>
          <a:bodyPr wrap="square" lIns="0" tIns="0" rIns="0" bIns="0" rtlCol="0" anchor="t"/>
          <a:lstStyle/>
          <a:p>
            <a:pPr marL="0" indent="0" algn="l">
              <a:lnSpc>
                <a:spcPts val="5150"/>
              </a:lnSpc>
              <a:buNone/>
            </a:pPr>
            <a:r>
              <a:rPr lang="en-US" sz="3680" b="1" dirty="0">
                <a:solidFill>
                  <a:srgbClr val="242424"/>
                </a:solidFill>
                <a:latin typeface="Barlow" pitchFamily="34" charset="0"/>
                <a:ea typeface="Barlow" pitchFamily="34" charset="-122"/>
                <a:cs typeface="Barlow" pitchFamily="34" charset="-120"/>
              </a:rPr>
              <a:t>Audit</a:t>
            </a:r>
          </a:p>
          <a:p>
            <a:pPr marL="0" indent="0" algn="l">
              <a:lnSpc>
                <a:spcPts val="5150"/>
              </a:lnSpc>
              <a:buNone/>
            </a:pPr>
            <a:r>
              <a:rPr lang="en-US" sz="3300" dirty="0">
                <a:solidFill>
                  <a:srgbClr val="242424"/>
                </a:solidFill>
                <a:latin typeface="Barlow" pitchFamily="34" charset="0"/>
              </a:rPr>
              <a:t>Which variables have sufficient temporal and treatment coverage?</a:t>
            </a:r>
            <a:endParaRPr lang="en-US" sz="3300" dirty="0"/>
          </a:p>
        </p:txBody>
      </p:sp>
      <p:sp>
        <p:nvSpPr>
          <p:cNvPr id="14" name="Text 12"/>
          <p:cNvSpPr txBox="1"/>
          <p:nvPr/>
        </p:nvSpPr>
        <p:spPr>
          <a:xfrm>
            <a:off x="1047750" y="16286798"/>
            <a:ext cx="365284" cy="686562"/>
          </a:xfrm>
          <a:prstGeom prst="rect">
            <a:avLst/>
          </a:prstGeom>
          <a:noFill/>
          <a:ln/>
        </p:spPr>
        <p:txBody>
          <a:bodyPr wrap="none" lIns="0" tIns="0" rIns="0" bIns="0" rtlCol="0" anchor="t"/>
          <a:lstStyle/>
          <a:p>
            <a:pPr marL="0" indent="0" algn="l">
              <a:lnSpc>
                <a:spcPts val="5990"/>
              </a:lnSpc>
              <a:buNone/>
            </a:pPr>
            <a:r>
              <a:rPr lang="en-US" sz="4280" b="1" dirty="0">
                <a:solidFill>
                  <a:srgbClr val="D00000"/>
                </a:solidFill>
                <a:latin typeface="Barlow Condensed" pitchFamily="34" charset="0"/>
                <a:ea typeface="Barlow Condensed" pitchFamily="34" charset="-122"/>
                <a:cs typeface="Barlow Condensed" pitchFamily="34" charset="-120"/>
              </a:rPr>
              <a:t>2</a:t>
            </a:r>
            <a:endParaRPr lang="en-US" sz="4280" dirty="0"/>
          </a:p>
        </p:txBody>
      </p:sp>
      <p:sp>
        <p:nvSpPr>
          <p:cNvPr id="15" name="Text 13"/>
          <p:cNvSpPr txBox="1"/>
          <p:nvPr/>
        </p:nvSpPr>
        <p:spPr>
          <a:xfrm>
            <a:off x="1495425" y="16344745"/>
            <a:ext cx="11009757" cy="1980807"/>
          </a:xfrm>
          <a:prstGeom prst="rect">
            <a:avLst/>
          </a:prstGeom>
          <a:noFill/>
          <a:ln/>
        </p:spPr>
        <p:txBody>
          <a:bodyPr wrap="square" lIns="0" tIns="0" rIns="0" bIns="0" rtlCol="0" anchor="t"/>
          <a:lstStyle/>
          <a:p>
            <a:pPr marL="0" indent="0" algn="l">
              <a:lnSpc>
                <a:spcPts val="5150"/>
              </a:lnSpc>
              <a:buNone/>
            </a:pPr>
            <a:r>
              <a:rPr lang="en-US" sz="3680" b="1" dirty="0">
                <a:solidFill>
                  <a:srgbClr val="242424"/>
                </a:solidFill>
                <a:latin typeface="Barlow" pitchFamily="34" charset="0"/>
                <a:ea typeface="Barlow" pitchFamily="34" charset="-122"/>
                <a:cs typeface="Barlow" pitchFamily="34" charset="-120"/>
              </a:rPr>
              <a:t>Rank</a:t>
            </a:r>
          </a:p>
          <a:p>
            <a:pPr marL="0" indent="0" algn="l">
              <a:lnSpc>
                <a:spcPts val="5150"/>
              </a:lnSpc>
              <a:buNone/>
            </a:pPr>
            <a:r>
              <a:rPr lang="en-US" sz="3300" dirty="0">
                <a:solidFill>
                  <a:srgbClr val="242424"/>
                </a:solidFill>
                <a:latin typeface="Barlow" pitchFamily="34" charset="0"/>
              </a:rPr>
              <a:t>Which fused covariates explain soil N, and do rankings method agree?</a:t>
            </a:r>
            <a:endParaRPr lang="en-US" sz="3300" dirty="0"/>
          </a:p>
        </p:txBody>
      </p:sp>
      <p:sp>
        <p:nvSpPr>
          <p:cNvPr id="16" name="Text 14"/>
          <p:cNvSpPr txBox="1"/>
          <p:nvPr/>
        </p:nvSpPr>
        <p:spPr>
          <a:xfrm>
            <a:off x="1047750" y="18353548"/>
            <a:ext cx="365284" cy="686562"/>
          </a:xfrm>
          <a:prstGeom prst="rect">
            <a:avLst/>
          </a:prstGeom>
          <a:noFill/>
          <a:ln/>
        </p:spPr>
        <p:txBody>
          <a:bodyPr wrap="none" lIns="0" tIns="0" rIns="0" bIns="0" rtlCol="0" anchor="t"/>
          <a:lstStyle/>
          <a:p>
            <a:pPr marL="0" indent="0" algn="l">
              <a:lnSpc>
                <a:spcPts val="5990"/>
              </a:lnSpc>
              <a:buNone/>
            </a:pPr>
            <a:r>
              <a:rPr lang="en-US" sz="4280" b="1" dirty="0">
                <a:solidFill>
                  <a:srgbClr val="D00000"/>
                </a:solidFill>
                <a:latin typeface="Barlow Condensed" pitchFamily="34" charset="0"/>
                <a:ea typeface="Barlow Condensed" pitchFamily="34" charset="-122"/>
                <a:cs typeface="Barlow Condensed" pitchFamily="34" charset="-120"/>
              </a:rPr>
              <a:t>3</a:t>
            </a:r>
            <a:endParaRPr lang="en-US" sz="4280" dirty="0"/>
          </a:p>
        </p:txBody>
      </p:sp>
      <p:sp>
        <p:nvSpPr>
          <p:cNvPr id="17" name="Text 15"/>
          <p:cNvSpPr txBox="1"/>
          <p:nvPr/>
        </p:nvSpPr>
        <p:spPr>
          <a:xfrm>
            <a:off x="1467993" y="18377819"/>
            <a:ext cx="11009757" cy="1288250"/>
          </a:xfrm>
          <a:prstGeom prst="rect">
            <a:avLst/>
          </a:prstGeom>
          <a:noFill/>
          <a:ln/>
        </p:spPr>
        <p:txBody>
          <a:bodyPr wrap="square" lIns="0" tIns="0" rIns="0" bIns="0" rtlCol="0" anchor="t"/>
          <a:lstStyle/>
          <a:p>
            <a:pPr marL="0" indent="0" algn="l">
              <a:lnSpc>
                <a:spcPts val="5150"/>
              </a:lnSpc>
              <a:buNone/>
            </a:pPr>
            <a:r>
              <a:rPr lang="en-US" sz="3680" b="1" dirty="0">
                <a:solidFill>
                  <a:srgbClr val="242424"/>
                </a:solidFill>
                <a:latin typeface="Barlow" pitchFamily="34" charset="0"/>
                <a:ea typeface="Barlow" pitchFamily="34" charset="-122"/>
                <a:cs typeface="Barlow" pitchFamily="34" charset="-120"/>
              </a:rPr>
              <a:t>Test</a:t>
            </a:r>
          </a:p>
          <a:p>
            <a:pPr marL="0" indent="0" algn="l">
              <a:lnSpc>
                <a:spcPts val="5150"/>
              </a:lnSpc>
              <a:buNone/>
            </a:pPr>
            <a:r>
              <a:rPr lang="en-US" sz="3300" dirty="0">
                <a:solidFill>
                  <a:srgbClr val="242424"/>
                </a:solidFill>
                <a:latin typeface="Barlow" pitchFamily="34" charset="0"/>
              </a:rPr>
              <a:t>Can these covariates predict an unseen year?</a:t>
            </a:r>
            <a:endParaRPr lang="en-US" sz="3300" dirty="0"/>
          </a:p>
        </p:txBody>
      </p:sp>
      <p:sp>
        <p:nvSpPr>
          <p:cNvPr id="18" name="Text 16"/>
          <p:cNvSpPr txBox="1"/>
          <p:nvPr/>
        </p:nvSpPr>
        <p:spPr>
          <a:xfrm>
            <a:off x="1097042" y="20109547"/>
            <a:ext cx="13235940" cy="797624"/>
          </a:xfrm>
          <a:prstGeom prst="rect">
            <a:avLst/>
          </a:prstGeom>
          <a:noFill/>
          <a:ln/>
        </p:spPr>
        <p:txBody>
          <a:bodyPr wrap="none" lIns="0" tIns="0" rIns="0" bIns="0" rtlCol="0" anchor="t"/>
          <a:lstStyle/>
          <a:p>
            <a:pPr marL="0" indent="0" algn="l">
              <a:lnSpc>
                <a:spcPts val="5200"/>
              </a:lnSpc>
              <a:buNone/>
            </a:pPr>
            <a:r>
              <a:rPr lang="en-US" sz="6000" b="1" kern="0" spc="150" dirty="0">
                <a:solidFill>
                  <a:srgbClr val="D00000"/>
                </a:solidFill>
                <a:latin typeface="Barlow Condensed" pitchFamily="34" charset="0"/>
                <a:ea typeface="Barlow Condensed" pitchFamily="34" charset="-122"/>
                <a:cs typeface="Barlow Condensed" pitchFamily="34" charset="-120"/>
              </a:rPr>
              <a:t>METHODS</a:t>
            </a:r>
            <a:endParaRPr lang="en-US" sz="4950" dirty="0"/>
          </a:p>
        </p:txBody>
      </p:sp>
      <p:sp>
        <p:nvSpPr>
          <p:cNvPr id="19" name="Shape 17"/>
          <p:cNvSpPr/>
          <p:nvPr/>
        </p:nvSpPr>
        <p:spPr>
          <a:xfrm>
            <a:off x="1047750" y="20940449"/>
            <a:ext cx="11430000" cy="2872383"/>
          </a:xfrm>
          <a:prstGeom prst="roundRect">
            <a:avLst>
              <a:gd name="adj" fmla="val 2653"/>
            </a:avLst>
          </a:prstGeom>
          <a:solidFill>
            <a:srgbClr val="F5F1E7"/>
          </a:solidFill>
          <a:ln/>
        </p:spPr>
        <p:txBody>
          <a:bodyPr/>
          <a:lstStyle/>
          <a:p>
            <a:endParaRPr lang="en-US" dirty="0"/>
          </a:p>
        </p:txBody>
      </p:sp>
      <p:sp>
        <p:nvSpPr>
          <p:cNvPr id="20" name="Text 18"/>
          <p:cNvSpPr txBox="1"/>
          <p:nvPr/>
        </p:nvSpPr>
        <p:spPr>
          <a:xfrm>
            <a:off x="1363742" y="21118085"/>
            <a:ext cx="11483340" cy="2505667"/>
          </a:xfrm>
          <a:prstGeom prst="rect">
            <a:avLst/>
          </a:prstGeom>
          <a:noFill/>
          <a:ln/>
        </p:spPr>
        <p:txBody>
          <a:bodyPr wrap="square" lIns="0" tIns="0" rIns="0" bIns="0" rtlCol="0" anchor="t"/>
          <a:lstStyle/>
          <a:p>
            <a:pPr marL="0" indent="0" algn="l">
              <a:lnSpc>
                <a:spcPts val="4830"/>
              </a:lnSpc>
              <a:buNone/>
            </a:pPr>
            <a:r>
              <a:rPr lang="en-US" sz="3680" b="1" dirty="0">
                <a:solidFill>
                  <a:srgbClr val="242424"/>
                </a:solidFill>
                <a:latin typeface="Barlow" pitchFamily="34" charset="0"/>
                <a:ea typeface="Barlow" pitchFamily="34" charset="-122"/>
                <a:cs typeface="Barlow" pitchFamily="34" charset="-120"/>
              </a:rPr>
              <a:t>Study area</a:t>
            </a:r>
            <a:r>
              <a:rPr lang="en-US" sz="3680" dirty="0">
                <a:solidFill>
                  <a:srgbClr val="242424"/>
                </a:solidFill>
                <a:latin typeface="Barlow" pitchFamily="34" charset="0"/>
                <a:ea typeface="Barlow" pitchFamily="34" charset="-122"/>
                <a:cs typeface="Barlow" pitchFamily="34" charset="-120"/>
              </a:rPr>
              <a:t> </a:t>
            </a:r>
          </a:p>
          <a:p>
            <a:pPr marL="0" indent="0" algn="l">
              <a:lnSpc>
                <a:spcPts val="4830"/>
              </a:lnSpc>
              <a:buNone/>
            </a:pPr>
            <a:r>
              <a:rPr lang="en-US" sz="3000" dirty="0">
                <a:solidFill>
                  <a:srgbClr val="242424"/>
                </a:solidFill>
                <a:latin typeface="Barlow" pitchFamily="34" charset="0"/>
                <a:ea typeface="Barlow" pitchFamily="34" charset="-122"/>
                <a:cs typeface="Barlow" pitchFamily="34" charset="-120"/>
              </a:rPr>
              <a:t>9 one-acre plots · 3 randomized treatments  (unfertilized triticale, fertilized triticale, triticale + legume) · grazed and ungrazed plots ·</a:t>
            </a:r>
          </a:p>
          <a:p>
            <a:pPr marL="0" indent="0" algn="l">
              <a:lnSpc>
                <a:spcPts val="4830"/>
              </a:lnSpc>
              <a:buNone/>
            </a:pPr>
            <a:r>
              <a:rPr lang="en-US" sz="3000" dirty="0">
                <a:solidFill>
                  <a:srgbClr val="242424"/>
                </a:solidFill>
                <a:latin typeface="Barlow" pitchFamily="34" charset="0"/>
                <a:ea typeface="Barlow" pitchFamily="34" charset="-122"/>
                <a:cs typeface="Barlow" pitchFamily="34" charset="-120"/>
              </a:rPr>
              <a:t>0–10 and 10–20 cm · 2019–2023 · 1,363 soil samples</a:t>
            </a:r>
            <a:endParaRPr lang="en-US" sz="3000" dirty="0"/>
          </a:p>
        </p:txBody>
      </p:sp>
      <p:sp>
        <p:nvSpPr>
          <p:cNvPr id="21" name="Text 19"/>
          <p:cNvSpPr txBox="1"/>
          <p:nvPr/>
        </p:nvSpPr>
        <p:spPr>
          <a:xfrm>
            <a:off x="1097042" y="24009505"/>
            <a:ext cx="13235940" cy="595694"/>
          </a:xfrm>
          <a:prstGeom prst="rect">
            <a:avLst/>
          </a:prstGeom>
          <a:noFill/>
          <a:ln/>
        </p:spPr>
        <p:txBody>
          <a:bodyPr wrap="none" lIns="0" tIns="0" rIns="0" bIns="0" rtlCol="0" anchor="t"/>
          <a:lstStyle/>
          <a:p>
            <a:pPr marL="0" indent="0" algn="l">
              <a:lnSpc>
                <a:spcPts val="4410"/>
              </a:lnSpc>
              <a:buNone/>
            </a:pPr>
            <a:r>
              <a:rPr lang="en-US" sz="3680" dirty="0">
                <a:solidFill>
                  <a:srgbClr val="242424"/>
                </a:solidFill>
                <a:latin typeface="Barlow SemiBold" pitchFamily="34" charset="0"/>
                <a:ea typeface="Barlow SemiBold" pitchFamily="34" charset="-122"/>
                <a:cs typeface="Barlow SemiBold" pitchFamily="34" charset="-120"/>
              </a:rPr>
              <a:t>Coverage audit</a:t>
            </a:r>
            <a:endParaRPr lang="en-US" sz="3680" dirty="0"/>
          </a:p>
        </p:txBody>
      </p:sp>
      <p:graphicFrame>
        <p:nvGraphicFramePr>
          <p:cNvPr id="22" name="Table 0"/>
          <p:cNvGraphicFramePr>
            <a:graphicFrameLocks noGrp="1"/>
          </p:cNvGraphicFramePr>
          <p:nvPr>
            <p:extLst>
              <p:ext uri="{D42A27DB-BD31-4B8C-83A1-F6EECF244321}">
                <p14:modId xmlns:p14="http://schemas.microsoft.com/office/powerpoint/2010/main" val="1317697074"/>
              </p:ext>
            </p:extLst>
          </p:nvPr>
        </p:nvGraphicFramePr>
        <p:xfrm>
          <a:off x="1129809" y="24684376"/>
          <a:ext cx="11429998" cy="3744468"/>
        </p:xfrm>
        <a:graphic>
          <a:graphicData uri="http://schemas.openxmlformats.org/drawingml/2006/table">
            <a:tbl>
              <a:tblPr/>
              <a:tblGrid>
                <a:gridCol w="3305175">
                  <a:extLst>
                    <a:ext uri="{9D8B030D-6E8A-4147-A177-3AD203B41FA5}">
                      <a16:colId xmlns:a16="http://schemas.microsoft.com/office/drawing/2014/main" val="20000"/>
                    </a:ext>
                  </a:extLst>
                </a:gridCol>
                <a:gridCol w="1224855">
                  <a:extLst>
                    <a:ext uri="{9D8B030D-6E8A-4147-A177-3AD203B41FA5}">
                      <a16:colId xmlns:a16="http://schemas.microsoft.com/office/drawing/2014/main" val="20001"/>
                    </a:ext>
                  </a:extLst>
                </a:gridCol>
                <a:gridCol w="1224855">
                  <a:extLst>
                    <a:ext uri="{9D8B030D-6E8A-4147-A177-3AD203B41FA5}">
                      <a16:colId xmlns:a16="http://schemas.microsoft.com/office/drawing/2014/main" val="20002"/>
                    </a:ext>
                  </a:extLst>
                </a:gridCol>
                <a:gridCol w="1225004">
                  <a:extLst>
                    <a:ext uri="{9D8B030D-6E8A-4147-A177-3AD203B41FA5}">
                      <a16:colId xmlns:a16="http://schemas.microsoft.com/office/drawing/2014/main" val="20003"/>
                    </a:ext>
                  </a:extLst>
                </a:gridCol>
                <a:gridCol w="1224855">
                  <a:extLst>
                    <a:ext uri="{9D8B030D-6E8A-4147-A177-3AD203B41FA5}">
                      <a16:colId xmlns:a16="http://schemas.microsoft.com/office/drawing/2014/main" val="20004"/>
                    </a:ext>
                  </a:extLst>
                </a:gridCol>
                <a:gridCol w="1224855">
                  <a:extLst>
                    <a:ext uri="{9D8B030D-6E8A-4147-A177-3AD203B41FA5}">
                      <a16:colId xmlns:a16="http://schemas.microsoft.com/office/drawing/2014/main" val="20005"/>
                    </a:ext>
                  </a:extLst>
                </a:gridCol>
                <a:gridCol w="2000399">
                  <a:extLst>
                    <a:ext uri="{9D8B030D-6E8A-4147-A177-3AD203B41FA5}">
                      <a16:colId xmlns:a16="http://schemas.microsoft.com/office/drawing/2014/main" val="20006"/>
                    </a:ext>
                  </a:extLst>
                </a:gridCol>
              </a:tblGrid>
              <a:tr h="420624">
                <a:tc>
                  <a:txBody>
                    <a:bodyPr/>
                    <a:lstStyle/>
                    <a:p>
                      <a:endParaRPr dirty="0"/>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2850" dirty="0">
                          <a:solidFill>
                            <a:srgbClr val="5E5E5E"/>
                          </a:solidFill>
                          <a:latin typeface="Barlow SemiBold" pitchFamily="34" charset="0"/>
                          <a:ea typeface="Barlow SemiBold" pitchFamily="34" charset="-122"/>
                          <a:cs typeface="Barlow SemiBold" pitchFamily="34" charset="-120"/>
                        </a:rPr>
                        <a:t>2019</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2850" dirty="0">
                          <a:solidFill>
                            <a:srgbClr val="5E5E5E"/>
                          </a:solidFill>
                          <a:latin typeface="Barlow SemiBold" pitchFamily="34" charset="0"/>
                          <a:ea typeface="Barlow SemiBold" pitchFamily="34" charset="-122"/>
                          <a:cs typeface="Barlow SemiBold" pitchFamily="34" charset="-120"/>
                        </a:rPr>
                        <a:t>2020</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2850" dirty="0">
                          <a:solidFill>
                            <a:srgbClr val="5E5E5E"/>
                          </a:solidFill>
                          <a:latin typeface="Barlow SemiBold" pitchFamily="34" charset="0"/>
                          <a:ea typeface="Barlow SemiBold" pitchFamily="34" charset="-122"/>
                          <a:cs typeface="Barlow SemiBold" pitchFamily="34" charset="-120"/>
                        </a:rPr>
                        <a:t>2021</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2850" dirty="0">
                          <a:solidFill>
                            <a:srgbClr val="5E5E5E"/>
                          </a:solidFill>
                          <a:latin typeface="Barlow SemiBold" pitchFamily="34" charset="0"/>
                          <a:ea typeface="Barlow SemiBold" pitchFamily="34" charset="-122"/>
                          <a:cs typeface="Barlow SemiBold" pitchFamily="34" charset="-120"/>
                        </a:rPr>
                        <a:t>2022</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2850" dirty="0">
                          <a:solidFill>
                            <a:srgbClr val="5E5E5E"/>
                          </a:solidFill>
                          <a:latin typeface="Barlow SemiBold" pitchFamily="34" charset="0"/>
                          <a:ea typeface="Barlow SemiBold" pitchFamily="34" charset="-122"/>
                          <a:cs typeface="Barlow SemiBold" pitchFamily="34" charset="-120"/>
                        </a:rPr>
                        <a:t>2023</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l">
                        <a:buNone/>
                      </a:pPr>
                      <a:r>
                        <a:rPr lang="en-US" sz="2850" dirty="0">
                          <a:solidFill>
                            <a:srgbClr val="5E5E5E"/>
                          </a:solidFill>
                          <a:latin typeface="Barlow SemiBold" pitchFamily="34" charset="0"/>
                          <a:ea typeface="Barlow SemiBold" pitchFamily="34" charset="-122"/>
                          <a:cs typeface="Barlow SemiBold" pitchFamily="34" charset="-120"/>
                        </a:rPr>
                        <a:t>Role</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658368">
                <a:tc>
                  <a:txBody>
                    <a:bodyPr/>
                    <a:lstStyle/>
                    <a:p>
                      <a:pPr marL="0" indent="0" algn="l">
                        <a:buNone/>
                      </a:pPr>
                      <a:r>
                        <a:rPr lang="en-US" sz="2850" dirty="0">
                          <a:solidFill>
                            <a:srgbClr val="242424"/>
                          </a:solidFill>
                          <a:latin typeface="Barlow SemiBold" pitchFamily="34" charset="0"/>
                          <a:ea typeface="Barlow SemiBold" pitchFamily="34" charset="-122"/>
                          <a:cs typeface="Barlow SemiBold" pitchFamily="34" charset="-120"/>
                        </a:rPr>
                        <a:t>NH</a:t>
                      </a:r>
                      <a:r>
                        <a:rPr lang="en-US" sz="2850" baseline="-40000" dirty="0">
                          <a:solidFill>
                            <a:srgbClr val="242424"/>
                          </a:solidFill>
                          <a:latin typeface="Barlow SemiBold" pitchFamily="34" charset="0"/>
                          <a:ea typeface="Barlow SemiBold" pitchFamily="34" charset="-122"/>
                          <a:cs typeface="Barlow SemiBold" pitchFamily="34" charset="-120"/>
                        </a:rPr>
                        <a:t>4</a:t>
                      </a:r>
                      <a:r>
                        <a:rPr lang="en-US" sz="2850" baseline="30000" dirty="0">
                          <a:solidFill>
                            <a:srgbClr val="242424"/>
                          </a:solidFill>
                          <a:latin typeface="Barlow SemiBold" pitchFamily="34" charset="0"/>
                          <a:ea typeface="Barlow SemiBold" pitchFamily="34" charset="-122"/>
                          <a:cs typeface="Barlow SemiBold" pitchFamily="34" charset="-120"/>
                        </a:rPr>
                        <a:t>+</a:t>
                      </a:r>
                      <a:r>
                        <a:rPr lang="en-US" sz="2850" dirty="0">
                          <a:solidFill>
                            <a:srgbClr val="242424"/>
                          </a:solidFill>
                          <a:latin typeface="Barlow SemiBold" pitchFamily="34" charset="0"/>
                          <a:ea typeface="Barlow SemiBold" pitchFamily="34" charset="-122"/>
                          <a:cs typeface="Barlow SemiBold" pitchFamily="34" charset="-120"/>
                        </a:rPr>
                        <a:t> / NO</a:t>
                      </a:r>
                      <a:r>
                        <a:rPr lang="en-US" sz="2850" baseline="-40000" dirty="0">
                          <a:solidFill>
                            <a:srgbClr val="242424"/>
                          </a:solidFill>
                          <a:latin typeface="Barlow SemiBold" pitchFamily="34" charset="0"/>
                          <a:ea typeface="Barlow SemiBold" pitchFamily="34" charset="-122"/>
                          <a:cs typeface="Barlow SemiBold" pitchFamily="34" charset="-120"/>
                        </a:rPr>
                        <a:t>3</a:t>
                      </a:r>
                      <a:r>
                        <a:rPr lang="en-US" sz="2850" baseline="30000" dirty="0">
                          <a:solidFill>
                            <a:srgbClr val="242424"/>
                          </a:solidFill>
                          <a:latin typeface="Barlow SemiBold" pitchFamily="34" charset="0"/>
                          <a:ea typeface="Barlow SemiBold" pitchFamily="34" charset="-122"/>
                          <a:cs typeface="Barlow SemiBold" pitchFamily="34" charset="-120"/>
                        </a:rPr>
                        <a:t>−</a:t>
                      </a:r>
                      <a:endParaRPr lang="en-US" sz="2850" dirty="0">
                        <a:latin typeface="Barlow SemiBold" charset="0"/>
                        <a:ea typeface="Barlow SemiBold" charset="0"/>
                        <a:cs typeface="Barlow SemiBold"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00000"/>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00000"/>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00000"/>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00000"/>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00000"/>
                    </a:solidFill>
                  </a:tcPr>
                </a:tc>
                <a:tc>
                  <a:txBody>
                    <a:bodyPr/>
                    <a:lstStyle/>
                    <a:p>
                      <a:pPr marL="0" indent="0" algn="l">
                        <a:buNone/>
                      </a:pPr>
                      <a:r>
                        <a:rPr lang="en-US" sz="2850" dirty="0">
                          <a:solidFill>
                            <a:srgbClr val="D00000"/>
                          </a:solidFill>
                          <a:latin typeface="Barlow SemiBold" pitchFamily="34" charset="0"/>
                          <a:ea typeface="Barlow SemiBold" pitchFamily="34" charset="-122"/>
                          <a:cs typeface="Barlow SemiBold" pitchFamily="34" charset="-120"/>
                        </a:rPr>
                        <a:t>Response</a:t>
                      </a:r>
                      <a:endParaRPr lang="en-US" sz="285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lgn="l">
                        <a:buNone/>
                      </a:pPr>
                      <a:r>
                        <a:rPr lang="en-US" sz="2850" dirty="0">
                          <a:solidFill>
                            <a:srgbClr val="242424"/>
                          </a:solidFill>
                          <a:latin typeface="Barlow" pitchFamily="34" charset="0"/>
                          <a:ea typeface="Barlow" pitchFamily="34" charset="-122"/>
                          <a:cs typeface="Barlow" pitchFamily="34" charset="-120"/>
                        </a:rPr>
                        <a:t>GHG flux</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E9A9A"/>
                    </a:solidFill>
                  </a:tcPr>
                </a:tc>
                <a:tc>
                  <a:txBody>
                    <a:bodyPr/>
                    <a:lstStyle/>
                    <a:p>
                      <a:endParaRPr dirty="0"/>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E9A9A"/>
                    </a:solidFill>
                  </a:tcPr>
                </a:tc>
                <a:tc>
                  <a:txBody>
                    <a:bodyPr/>
                    <a:lstStyle/>
                    <a:p>
                      <a:endParaRPr dirty="0"/>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E9A9A"/>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E9A9A"/>
                    </a:solidFill>
                  </a:tcPr>
                </a:tc>
                <a:tc>
                  <a:txBody>
                    <a:bodyPr/>
                    <a:lstStyle/>
                    <a:p>
                      <a:pPr marL="0" indent="0" algn="l">
                        <a:buNone/>
                      </a:pPr>
                      <a:r>
                        <a:rPr lang="en-US" sz="2850" dirty="0">
                          <a:solidFill>
                            <a:srgbClr val="D00000"/>
                          </a:solidFill>
                          <a:latin typeface="Barlow" pitchFamily="34" charset="0"/>
                          <a:ea typeface="Barlow" pitchFamily="34" charset="-122"/>
                          <a:cs typeface="Barlow" pitchFamily="34" charset="-120"/>
                        </a:rPr>
                        <a:t>Covariate</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lgn="l">
                        <a:buNone/>
                      </a:pPr>
                      <a:r>
                        <a:rPr lang="en-US" sz="2850" dirty="0">
                          <a:solidFill>
                            <a:srgbClr val="242424"/>
                          </a:solidFill>
                          <a:latin typeface="Barlow" pitchFamily="34" charset="0"/>
                          <a:ea typeface="Barlow" pitchFamily="34" charset="-122"/>
                          <a:cs typeface="Barlow" pitchFamily="34" charset="-120"/>
                        </a:rPr>
                        <a:t>pH / EC / BD</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E9A9A"/>
                    </a:solidFill>
                  </a:tcPr>
                </a:tc>
                <a:tc>
                  <a:txBody>
                    <a:bodyPr/>
                    <a:lstStyle/>
                    <a:p>
                      <a:endParaRPr dirty="0"/>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C4C4C4"/>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2D08A"/>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2D08A"/>
                    </a:solidFill>
                  </a:tcPr>
                </a:tc>
                <a:tc>
                  <a:txBody>
                    <a:bodyPr/>
                    <a:lstStyle/>
                    <a:p>
                      <a:pPr marL="0" indent="0" algn="l">
                        <a:buNone/>
                      </a:pPr>
                      <a:r>
                        <a:rPr lang="en-US" sz="2850" dirty="0">
                          <a:solidFill>
                            <a:srgbClr val="8A6420"/>
                          </a:solidFill>
                          <a:latin typeface="Barlow" pitchFamily="34" charset="0"/>
                          <a:ea typeface="Barlow" pitchFamily="34" charset="-122"/>
                          <a:cs typeface="Barlow" pitchFamily="34" charset="-120"/>
                        </a:rPr>
                        <a:t>Baseline</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lgn="l">
                        <a:buNone/>
                      </a:pPr>
                      <a:r>
                        <a:rPr lang="en-US" sz="2850" dirty="0">
                          <a:solidFill>
                            <a:srgbClr val="242424"/>
                          </a:solidFill>
                          <a:latin typeface="Barlow" pitchFamily="34" charset="0"/>
                          <a:ea typeface="Barlow" pitchFamily="34" charset="-122"/>
                          <a:cs typeface="Barlow" pitchFamily="34" charset="-120"/>
                        </a:rPr>
                        <a:t>Carbon fractions</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2D08A"/>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2D08A"/>
                    </a:solidFill>
                  </a:tcPr>
                </a:tc>
                <a:tc>
                  <a:txBody>
                    <a:bodyPr/>
                    <a:lstStyle/>
                    <a:p>
                      <a:pPr marL="0" indent="0" algn="l">
                        <a:buNone/>
                      </a:pPr>
                      <a:r>
                        <a:rPr lang="en-US" sz="2850" dirty="0">
                          <a:solidFill>
                            <a:srgbClr val="8A6420"/>
                          </a:solidFill>
                          <a:latin typeface="Barlow" pitchFamily="34" charset="0"/>
                          <a:ea typeface="Barlow" pitchFamily="34" charset="-122"/>
                          <a:cs typeface="Barlow" pitchFamily="34" charset="-120"/>
                        </a:rPr>
                        <a:t>Snapshot</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658368">
                <a:tc>
                  <a:txBody>
                    <a:bodyPr/>
                    <a:lstStyle/>
                    <a:p>
                      <a:pPr marL="0" indent="0" algn="l">
                        <a:buNone/>
                      </a:pPr>
                      <a:r>
                        <a:rPr lang="en-US" sz="2850" dirty="0">
                          <a:solidFill>
                            <a:srgbClr val="242424"/>
                          </a:solidFill>
                          <a:latin typeface="Barlow" pitchFamily="34" charset="0"/>
                          <a:ea typeface="Barlow" pitchFamily="34" charset="-122"/>
                          <a:cs typeface="Barlow" pitchFamily="34" charset="-120"/>
                        </a:rPr>
                        <a:t>FAME</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E9A9A"/>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CEAE3"/>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2D08A"/>
                    </a:solidFill>
                  </a:tcPr>
                </a:tc>
                <a:tc>
                  <a:txBody>
                    <a:bodyPr/>
                    <a:lstStyle/>
                    <a:p>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2D08A"/>
                    </a:solidFill>
                  </a:tcPr>
                </a:tc>
                <a:tc>
                  <a:txBody>
                    <a:bodyPr/>
                    <a:lstStyle/>
                    <a:p>
                      <a:pPr marL="0" indent="0" algn="l">
                        <a:buNone/>
                      </a:pPr>
                      <a:r>
                        <a:rPr lang="en-US" sz="2850" dirty="0">
                          <a:solidFill>
                            <a:srgbClr val="8A6420"/>
                          </a:solidFill>
                          <a:latin typeface="Barlow" pitchFamily="34" charset="0"/>
                          <a:ea typeface="Barlow" pitchFamily="34" charset="-122"/>
                          <a:cs typeface="Barlow" pitchFamily="34" charset="-120"/>
                        </a:rPr>
                        <a:t>Snapshot</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2" name="Group 1">
            <a:extLst>
              <a:ext uri="{FF2B5EF4-FFF2-40B4-BE49-F238E27FC236}">
                <a16:creationId xmlns:a16="http://schemas.microsoft.com/office/drawing/2014/main" id="{CF88E777-3EF8-D564-920D-DC9E882370B3}"/>
              </a:ext>
            </a:extLst>
          </p:cNvPr>
          <p:cNvGrpSpPr/>
          <p:nvPr/>
        </p:nvGrpSpPr>
        <p:grpSpPr>
          <a:xfrm>
            <a:off x="1129809" y="28769458"/>
            <a:ext cx="9529286" cy="919353"/>
            <a:chOff x="1047750" y="29528714"/>
            <a:chExt cx="9529286" cy="919353"/>
          </a:xfrm>
        </p:grpSpPr>
        <p:sp>
          <p:nvSpPr>
            <p:cNvPr id="23" name="Shape 20"/>
            <p:cNvSpPr/>
            <p:nvPr/>
          </p:nvSpPr>
          <p:spPr>
            <a:xfrm>
              <a:off x="1047750" y="29623964"/>
              <a:ext cx="285750" cy="209550"/>
            </a:xfrm>
            <a:prstGeom prst="roundRect">
              <a:avLst>
                <a:gd name="adj" fmla="val 13636"/>
              </a:avLst>
            </a:prstGeom>
            <a:solidFill>
              <a:srgbClr val="D00000"/>
            </a:solidFill>
            <a:ln/>
          </p:spPr>
          <p:txBody>
            <a:bodyPr/>
            <a:lstStyle/>
            <a:p>
              <a:endParaRPr lang="en-US"/>
            </a:p>
          </p:txBody>
        </p:sp>
        <p:sp>
          <p:nvSpPr>
            <p:cNvPr id="24" name="Text 21"/>
            <p:cNvSpPr txBox="1"/>
            <p:nvPr/>
          </p:nvSpPr>
          <p:spPr>
            <a:xfrm>
              <a:off x="1428750" y="29528714"/>
              <a:ext cx="1690688"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Complete</a:t>
              </a:r>
              <a:endParaRPr lang="en-US" sz="2630" dirty="0"/>
            </a:p>
          </p:txBody>
        </p:sp>
        <p:sp>
          <p:nvSpPr>
            <p:cNvPr id="25" name="Shape 22"/>
            <p:cNvSpPr/>
            <p:nvPr/>
          </p:nvSpPr>
          <p:spPr>
            <a:xfrm>
              <a:off x="3105150" y="29623964"/>
              <a:ext cx="285750" cy="209550"/>
            </a:xfrm>
            <a:prstGeom prst="roundRect">
              <a:avLst>
                <a:gd name="adj" fmla="val 13636"/>
              </a:avLst>
            </a:prstGeom>
            <a:solidFill>
              <a:srgbClr val="EE9A9A"/>
            </a:solidFill>
            <a:ln/>
          </p:spPr>
          <p:txBody>
            <a:bodyPr/>
            <a:lstStyle/>
            <a:p>
              <a:endParaRPr lang="en-US"/>
            </a:p>
          </p:txBody>
        </p:sp>
        <p:sp>
          <p:nvSpPr>
            <p:cNvPr id="26" name="Text 23"/>
            <p:cNvSpPr txBox="1"/>
            <p:nvPr/>
          </p:nvSpPr>
          <p:spPr>
            <a:xfrm>
              <a:off x="3486150" y="29528714"/>
              <a:ext cx="2468404"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All treatments</a:t>
              </a:r>
              <a:endParaRPr lang="en-US" sz="2630" dirty="0"/>
            </a:p>
          </p:txBody>
        </p:sp>
        <p:sp>
          <p:nvSpPr>
            <p:cNvPr id="27" name="Shape 24"/>
            <p:cNvSpPr/>
            <p:nvPr/>
          </p:nvSpPr>
          <p:spPr>
            <a:xfrm>
              <a:off x="5838825" y="29623964"/>
              <a:ext cx="285750" cy="209550"/>
            </a:xfrm>
            <a:prstGeom prst="roundRect">
              <a:avLst>
                <a:gd name="adj" fmla="val 13636"/>
              </a:avLst>
            </a:prstGeom>
            <a:solidFill>
              <a:srgbClr val="F2D08A"/>
            </a:solidFill>
            <a:ln/>
          </p:spPr>
          <p:txBody>
            <a:bodyPr/>
            <a:lstStyle/>
            <a:p>
              <a:endParaRPr lang="en-US"/>
            </a:p>
          </p:txBody>
        </p:sp>
        <p:sp>
          <p:nvSpPr>
            <p:cNvPr id="28" name="Text 25"/>
            <p:cNvSpPr txBox="1"/>
            <p:nvPr/>
          </p:nvSpPr>
          <p:spPr>
            <a:xfrm>
              <a:off x="6219825" y="29528714"/>
              <a:ext cx="1975485"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Time 2 only</a:t>
              </a:r>
              <a:endParaRPr lang="en-US" sz="2630" dirty="0"/>
            </a:p>
          </p:txBody>
        </p:sp>
        <p:sp>
          <p:nvSpPr>
            <p:cNvPr id="29" name="Shape 26"/>
            <p:cNvSpPr/>
            <p:nvPr/>
          </p:nvSpPr>
          <p:spPr>
            <a:xfrm>
              <a:off x="8143875" y="29623964"/>
              <a:ext cx="285750" cy="209550"/>
            </a:xfrm>
            <a:prstGeom prst="roundRect">
              <a:avLst>
                <a:gd name="adj" fmla="val 13636"/>
              </a:avLst>
            </a:prstGeom>
            <a:solidFill>
              <a:srgbClr val="C4C4C4"/>
            </a:solidFill>
            <a:ln/>
          </p:spPr>
          <p:txBody>
            <a:bodyPr/>
            <a:lstStyle/>
            <a:p>
              <a:endParaRPr lang="en-US"/>
            </a:p>
          </p:txBody>
        </p:sp>
        <p:sp>
          <p:nvSpPr>
            <p:cNvPr id="30" name="Text 27"/>
            <p:cNvSpPr txBox="1"/>
            <p:nvPr/>
          </p:nvSpPr>
          <p:spPr>
            <a:xfrm>
              <a:off x="8524875" y="29528714"/>
              <a:ext cx="2052161"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Plot IDs lost</a:t>
              </a:r>
              <a:endParaRPr lang="en-US" sz="2630" dirty="0"/>
            </a:p>
          </p:txBody>
        </p:sp>
        <p:sp>
          <p:nvSpPr>
            <p:cNvPr id="31" name="Shape 28"/>
            <p:cNvSpPr/>
            <p:nvPr/>
          </p:nvSpPr>
          <p:spPr>
            <a:xfrm>
              <a:off x="1047750" y="30100214"/>
              <a:ext cx="323850" cy="247650"/>
            </a:xfrm>
            <a:prstGeom prst="roundRect">
              <a:avLst>
                <a:gd name="adj" fmla="val 11538"/>
              </a:avLst>
            </a:prstGeom>
            <a:solidFill>
              <a:srgbClr val="F3F3F1"/>
            </a:solidFill>
            <a:ln w="19050">
              <a:solidFill>
                <a:srgbClr val="DEDBD2"/>
              </a:solidFill>
              <a:prstDash val="solid"/>
            </a:ln>
          </p:spPr>
          <p:txBody>
            <a:bodyPr/>
            <a:lstStyle/>
            <a:p>
              <a:endParaRPr lang="en-US"/>
            </a:p>
          </p:txBody>
        </p:sp>
        <p:sp>
          <p:nvSpPr>
            <p:cNvPr id="32" name="Text 29"/>
            <p:cNvSpPr txBox="1"/>
            <p:nvPr/>
          </p:nvSpPr>
          <p:spPr>
            <a:xfrm>
              <a:off x="1466850" y="30024014"/>
              <a:ext cx="2315051"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Not collected</a:t>
              </a:r>
              <a:endParaRPr lang="en-US" sz="2630" dirty="0"/>
            </a:p>
          </p:txBody>
        </p:sp>
      </p:grpSp>
      <p:sp>
        <p:nvSpPr>
          <p:cNvPr id="33" name="Text 30"/>
          <p:cNvSpPr txBox="1"/>
          <p:nvPr/>
        </p:nvSpPr>
        <p:spPr>
          <a:xfrm>
            <a:off x="1180592" y="30156666"/>
            <a:ext cx="13235940" cy="595694"/>
          </a:xfrm>
          <a:prstGeom prst="rect">
            <a:avLst/>
          </a:prstGeom>
          <a:noFill/>
          <a:ln/>
        </p:spPr>
        <p:txBody>
          <a:bodyPr wrap="none" lIns="0" tIns="0" rIns="0" bIns="0" rtlCol="0" anchor="t"/>
          <a:lstStyle/>
          <a:p>
            <a:pPr marL="0" indent="0" algn="l">
              <a:lnSpc>
                <a:spcPts val="4410"/>
              </a:lnSpc>
              <a:buNone/>
            </a:pPr>
            <a:r>
              <a:rPr lang="en-US" sz="3680" dirty="0">
                <a:solidFill>
                  <a:srgbClr val="242424"/>
                </a:solidFill>
                <a:latin typeface="Barlow SemiBold" pitchFamily="34" charset="0"/>
                <a:ea typeface="Barlow SemiBold" pitchFamily="34" charset="-122"/>
                <a:cs typeface="Barlow SemiBold" pitchFamily="34" charset="-120"/>
              </a:rPr>
              <a:t>Analysis</a:t>
            </a:r>
            <a:endParaRPr lang="en-US" sz="3680" dirty="0"/>
          </a:p>
        </p:txBody>
      </p:sp>
      <p:sp>
        <p:nvSpPr>
          <p:cNvPr id="39" name="Shape 36"/>
          <p:cNvSpPr/>
          <p:nvPr/>
        </p:nvSpPr>
        <p:spPr>
          <a:xfrm>
            <a:off x="13134916" y="6870383"/>
            <a:ext cx="14020800" cy="19953763"/>
          </a:xfrm>
          <a:prstGeom prst="roundRect">
            <a:avLst>
              <a:gd name="adj" fmla="val 815"/>
            </a:avLst>
          </a:prstGeom>
          <a:solidFill>
            <a:srgbClr val="B80000"/>
          </a:solidFill>
          <a:ln/>
        </p:spPr>
        <p:txBody>
          <a:bodyPr/>
          <a:lstStyle/>
          <a:p>
            <a:endParaRPr lang="en-US" dirty="0"/>
          </a:p>
        </p:txBody>
      </p:sp>
      <p:sp>
        <p:nvSpPr>
          <p:cNvPr id="40" name="Text 37"/>
          <p:cNvSpPr txBox="1"/>
          <p:nvPr/>
        </p:nvSpPr>
        <p:spPr>
          <a:xfrm>
            <a:off x="13773150" y="7231353"/>
            <a:ext cx="12714732" cy="2944076"/>
          </a:xfrm>
          <a:prstGeom prst="rect">
            <a:avLst/>
          </a:prstGeom>
          <a:noFill/>
          <a:ln/>
        </p:spPr>
        <p:txBody>
          <a:bodyPr wrap="square" lIns="0" tIns="0" rIns="0" bIns="0" rtlCol="0" anchor="t"/>
          <a:lstStyle/>
          <a:p>
            <a:pPr marL="0" indent="0" algn="l">
              <a:lnSpc>
                <a:spcPts val="7090"/>
              </a:lnSpc>
              <a:buNone/>
            </a:pPr>
            <a:r>
              <a:rPr lang="en-US" sz="6750" b="1" kern="0" spc="75" dirty="0">
                <a:solidFill>
                  <a:srgbClr val="FFFFFF"/>
                </a:solidFill>
                <a:latin typeface="Barlow Condensed" pitchFamily="34" charset="0"/>
                <a:ea typeface="Barlow Condensed" pitchFamily="34" charset="-122"/>
                <a:cs typeface="Barlow Condensed" pitchFamily="34" charset="-120"/>
              </a:rPr>
              <a:t>FIVE CHECKS BEFORE BUILDING A FORECASTING PIPELINE ON A SHORT RECORD</a:t>
            </a:r>
            <a:endParaRPr lang="en-US" sz="6750" dirty="0"/>
          </a:p>
        </p:txBody>
      </p:sp>
      <p:grpSp>
        <p:nvGrpSpPr>
          <p:cNvPr id="34" name="Group 33">
            <a:extLst>
              <a:ext uri="{FF2B5EF4-FFF2-40B4-BE49-F238E27FC236}">
                <a16:creationId xmlns:a16="http://schemas.microsoft.com/office/drawing/2014/main" id="{2CA15FE4-45BF-0263-B022-311B96B2896A}"/>
              </a:ext>
            </a:extLst>
          </p:cNvPr>
          <p:cNvGrpSpPr/>
          <p:nvPr/>
        </p:nvGrpSpPr>
        <p:grpSpPr>
          <a:xfrm>
            <a:off x="13876746" y="10231322"/>
            <a:ext cx="12714732" cy="16245816"/>
            <a:chOff x="13773150" y="11381482"/>
            <a:chExt cx="12714732" cy="16245816"/>
          </a:xfrm>
        </p:grpSpPr>
        <p:sp>
          <p:nvSpPr>
            <p:cNvPr id="42" name="Text 39"/>
            <p:cNvSpPr txBox="1"/>
            <p:nvPr/>
          </p:nvSpPr>
          <p:spPr>
            <a:xfrm>
              <a:off x="13773150" y="11381482"/>
              <a:ext cx="858202" cy="1453896"/>
            </a:xfrm>
            <a:prstGeom prst="rect">
              <a:avLst/>
            </a:prstGeom>
            <a:noFill/>
            <a:ln/>
          </p:spPr>
          <p:txBody>
            <a:bodyPr wrap="none" lIns="0" tIns="0" rIns="0" bIns="0" rtlCol="0" anchor="t"/>
            <a:lstStyle/>
            <a:p>
              <a:pPr marL="0" indent="0" algn="l">
                <a:lnSpc>
                  <a:spcPts val="9000"/>
                </a:lnSpc>
                <a:buNone/>
              </a:pPr>
              <a:r>
                <a:rPr lang="en-US" sz="9000" b="1" dirty="0">
                  <a:solidFill>
                    <a:srgbClr val="F5F1E7"/>
                  </a:solidFill>
                  <a:latin typeface="Barlow Condensed" pitchFamily="34" charset="0"/>
                  <a:ea typeface="Barlow Condensed" pitchFamily="34" charset="-122"/>
                  <a:cs typeface="Barlow Condensed" pitchFamily="34" charset="-120"/>
                </a:rPr>
                <a:t>1</a:t>
              </a:r>
              <a:endParaRPr lang="en-US" sz="9000" dirty="0"/>
            </a:p>
          </p:txBody>
        </p:sp>
        <p:sp>
          <p:nvSpPr>
            <p:cNvPr id="43" name="Text 40"/>
            <p:cNvSpPr txBox="1"/>
            <p:nvPr/>
          </p:nvSpPr>
          <p:spPr>
            <a:xfrm>
              <a:off x="14725650" y="11571982"/>
              <a:ext cx="11762232" cy="1343623"/>
            </a:xfrm>
            <a:prstGeom prst="rect">
              <a:avLst/>
            </a:prstGeom>
            <a:noFill/>
            <a:ln/>
          </p:spPr>
          <p:txBody>
            <a:bodyPr wrap="square" lIns="0" tIns="0" rIns="0" bIns="0" rtlCol="0" anchor="t"/>
            <a:lstStyle/>
            <a:p>
              <a:pPr marL="0" indent="0" algn="l">
                <a:lnSpc>
                  <a:spcPts val="4960"/>
                </a:lnSpc>
                <a:buNone/>
              </a:pPr>
              <a:r>
                <a:rPr lang="en-US" sz="4200" dirty="0">
                  <a:solidFill>
                    <a:srgbClr val="FFFFFF"/>
                  </a:solidFill>
                  <a:latin typeface="Barlow SemiBold" pitchFamily="34" charset="0"/>
                  <a:ea typeface="Barlow SemiBold" pitchFamily="34" charset="-122"/>
                  <a:cs typeface="Barlow SemiBold" pitchFamily="34" charset="-120"/>
                </a:rPr>
                <a:t>Let coverage decide each variable’s role, before modelling anything</a:t>
              </a:r>
              <a:endParaRPr lang="en-US" sz="4200" dirty="0"/>
            </a:p>
          </p:txBody>
        </p:sp>
        <p:sp>
          <p:nvSpPr>
            <p:cNvPr id="44" name="Text 41"/>
            <p:cNvSpPr txBox="1"/>
            <p:nvPr/>
          </p:nvSpPr>
          <p:spPr>
            <a:xfrm>
              <a:off x="14725650" y="12973645"/>
              <a:ext cx="11759184" cy="1799070"/>
            </a:xfrm>
            <a:prstGeom prst="rect">
              <a:avLst/>
            </a:prstGeom>
            <a:noFill/>
            <a:ln/>
          </p:spPr>
          <p:txBody>
            <a:bodyPr wrap="square" lIns="0" tIns="0" rIns="0" bIns="0" rtlCol="0" anchor="t"/>
            <a:lstStyle/>
            <a:p>
              <a:pPr marL="0" indent="0" algn="l">
                <a:lnSpc>
                  <a:spcPts val="4660"/>
                </a:lnSpc>
                <a:buNone/>
              </a:pPr>
              <a:r>
                <a:rPr lang="en-US" sz="3380" dirty="0">
                  <a:solidFill>
                    <a:srgbClr val="FBE3E3"/>
                  </a:solidFill>
                  <a:latin typeface="Barlow" pitchFamily="34" charset="0"/>
                  <a:ea typeface="Barlow" pitchFamily="34" charset="-122"/>
                  <a:cs typeface="Barlow" pitchFamily="34" charset="-120"/>
                </a:rPr>
                <a:t>Two years at one time point support a comparison, not a trajectory. High‑quality data can only do so much if it isn’t collected consistently.</a:t>
              </a:r>
              <a:endParaRPr lang="en-US" sz="3380" dirty="0"/>
            </a:p>
          </p:txBody>
        </p:sp>
        <p:sp>
          <p:nvSpPr>
            <p:cNvPr id="45" name="Text 42"/>
            <p:cNvSpPr txBox="1"/>
            <p:nvPr/>
          </p:nvSpPr>
          <p:spPr>
            <a:xfrm>
              <a:off x="13773150" y="14890849"/>
              <a:ext cx="858202" cy="1453896"/>
            </a:xfrm>
            <a:prstGeom prst="rect">
              <a:avLst/>
            </a:prstGeom>
            <a:noFill/>
            <a:ln/>
          </p:spPr>
          <p:txBody>
            <a:bodyPr wrap="none" lIns="0" tIns="0" rIns="0" bIns="0" rtlCol="0" anchor="t"/>
            <a:lstStyle/>
            <a:p>
              <a:pPr marL="0" indent="0" algn="l">
                <a:lnSpc>
                  <a:spcPts val="9000"/>
                </a:lnSpc>
                <a:buNone/>
              </a:pPr>
              <a:r>
                <a:rPr lang="en-US" sz="9000" b="1" dirty="0">
                  <a:solidFill>
                    <a:srgbClr val="F5F1E7"/>
                  </a:solidFill>
                  <a:latin typeface="Barlow Condensed" pitchFamily="34" charset="0"/>
                  <a:ea typeface="Barlow Condensed" pitchFamily="34" charset="-122"/>
                  <a:cs typeface="Barlow Condensed" pitchFamily="34" charset="-120"/>
                </a:rPr>
                <a:t>2</a:t>
              </a:r>
              <a:endParaRPr lang="en-US" sz="9000" dirty="0"/>
            </a:p>
          </p:txBody>
        </p:sp>
        <p:sp>
          <p:nvSpPr>
            <p:cNvPr id="46" name="Text 43"/>
            <p:cNvSpPr txBox="1"/>
            <p:nvPr/>
          </p:nvSpPr>
          <p:spPr>
            <a:xfrm>
              <a:off x="14725650" y="15081349"/>
              <a:ext cx="11762232" cy="1343623"/>
            </a:xfrm>
            <a:prstGeom prst="rect">
              <a:avLst/>
            </a:prstGeom>
            <a:noFill/>
            <a:ln/>
          </p:spPr>
          <p:txBody>
            <a:bodyPr wrap="square" lIns="0" tIns="0" rIns="0" bIns="0" rtlCol="0" anchor="t"/>
            <a:lstStyle/>
            <a:p>
              <a:pPr marL="0" indent="0" algn="l">
                <a:lnSpc>
                  <a:spcPts val="4960"/>
                </a:lnSpc>
                <a:buNone/>
              </a:pPr>
              <a:r>
                <a:rPr lang="en-US" sz="4200" dirty="0">
                  <a:solidFill>
                    <a:srgbClr val="FFFFFF"/>
                  </a:solidFill>
                  <a:latin typeface="Barlow SemiBold" pitchFamily="34" charset="0"/>
                  <a:ea typeface="Barlow SemiBold" pitchFamily="34" charset="-122"/>
                  <a:cs typeface="Barlow SemiBold" pitchFamily="34" charset="-120"/>
                </a:rPr>
                <a:t>Test conditional variables directly before ranking discards them</a:t>
              </a:r>
              <a:endParaRPr lang="en-US" sz="4200" dirty="0"/>
            </a:p>
          </p:txBody>
        </p:sp>
        <p:sp>
          <p:nvSpPr>
            <p:cNvPr id="47" name="Text 44"/>
            <p:cNvSpPr txBox="1"/>
            <p:nvPr/>
          </p:nvSpPr>
          <p:spPr>
            <a:xfrm>
              <a:off x="14725650" y="16483013"/>
              <a:ext cx="11762232" cy="1172141"/>
            </a:xfrm>
            <a:prstGeom prst="rect">
              <a:avLst/>
            </a:prstGeom>
            <a:noFill/>
            <a:ln/>
          </p:spPr>
          <p:txBody>
            <a:bodyPr wrap="square" lIns="0" tIns="0" rIns="0" bIns="0" rtlCol="0" anchor="t"/>
            <a:lstStyle/>
            <a:p>
              <a:pPr marL="0" indent="0" algn="l">
                <a:lnSpc>
                  <a:spcPts val="4660"/>
                </a:lnSpc>
                <a:buNone/>
              </a:pPr>
              <a:r>
                <a:rPr lang="en-US" sz="3380" dirty="0">
                  <a:solidFill>
                    <a:srgbClr val="FBE3E3"/>
                  </a:solidFill>
                  <a:latin typeface="Barlow" pitchFamily="34" charset="0"/>
                  <a:ea typeface="Barlow" pitchFamily="34" charset="-122"/>
                  <a:cs typeface="Barlow" pitchFamily="34" charset="-120"/>
                </a:rPr>
                <a:t>Grazing ranked last or near-last under every method we tried, yet held our only significant management effect.</a:t>
              </a:r>
              <a:endParaRPr lang="en-US" sz="3380" dirty="0"/>
            </a:p>
          </p:txBody>
        </p:sp>
        <p:sp>
          <p:nvSpPr>
            <p:cNvPr id="48" name="Text 45"/>
            <p:cNvSpPr txBox="1"/>
            <p:nvPr/>
          </p:nvSpPr>
          <p:spPr>
            <a:xfrm>
              <a:off x="13773150" y="17808773"/>
              <a:ext cx="858202" cy="1453896"/>
            </a:xfrm>
            <a:prstGeom prst="rect">
              <a:avLst/>
            </a:prstGeom>
            <a:noFill/>
            <a:ln/>
          </p:spPr>
          <p:txBody>
            <a:bodyPr wrap="none" lIns="0" tIns="0" rIns="0" bIns="0" rtlCol="0" anchor="t"/>
            <a:lstStyle/>
            <a:p>
              <a:pPr marL="0" indent="0" algn="l">
                <a:lnSpc>
                  <a:spcPts val="9000"/>
                </a:lnSpc>
                <a:buNone/>
              </a:pPr>
              <a:r>
                <a:rPr lang="en-US" sz="9000" b="1" dirty="0">
                  <a:solidFill>
                    <a:srgbClr val="F5F1E7"/>
                  </a:solidFill>
                  <a:latin typeface="Barlow Condensed" pitchFamily="34" charset="0"/>
                  <a:ea typeface="Barlow Condensed" pitchFamily="34" charset="-122"/>
                  <a:cs typeface="Barlow Condensed" pitchFamily="34" charset="-120"/>
                </a:rPr>
                <a:t>3</a:t>
              </a:r>
              <a:endParaRPr lang="en-US" sz="9000" dirty="0"/>
            </a:p>
          </p:txBody>
        </p:sp>
        <p:sp>
          <p:nvSpPr>
            <p:cNvPr id="49" name="Text 46"/>
            <p:cNvSpPr txBox="1"/>
            <p:nvPr/>
          </p:nvSpPr>
          <p:spPr>
            <a:xfrm>
              <a:off x="14725650" y="17999273"/>
              <a:ext cx="11762232" cy="1343623"/>
            </a:xfrm>
            <a:prstGeom prst="rect">
              <a:avLst/>
            </a:prstGeom>
            <a:noFill/>
            <a:ln/>
          </p:spPr>
          <p:txBody>
            <a:bodyPr wrap="square" lIns="0" tIns="0" rIns="0" bIns="0" rtlCol="0" anchor="t"/>
            <a:lstStyle/>
            <a:p>
              <a:pPr marL="0" indent="0" algn="l">
                <a:lnSpc>
                  <a:spcPts val="4960"/>
                </a:lnSpc>
                <a:buNone/>
              </a:pPr>
              <a:r>
                <a:rPr lang="en-US" sz="4200" dirty="0">
                  <a:solidFill>
                    <a:srgbClr val="FFFFFF"/>
                  </a:solidFill>
                  <a:latin typeface="Barlow SemiBold" pitchFamily="34" charset="0"/>
                  <a:ea typeface="Barlow SemiBold" pitchFamily="34" charset="-122"/>
                  <a:cs typeface="Barlow SemiBold" pitchFamily="34" charset="-120"/>
                </a:rPr>
                <a:t>Rank covariates at least two ways, and report the disagreement</a:t>
              </a:r>
              <a:endParaRPr lang="en-US" sz="4200" dirty="0"/>
            </a:p>
          </p:txBody>
        </p:sp>
        <p:sp>
          <p:nvSpPr>
            <p:cNvPr id="50" name="Text 47"/>
            <p:cNvSpPr txBox="1"/>
            <p:nvPr/>
          </p:nvSpPr>
          <p:spPr>
            <a:xfrm>
              <a:off x="14725650" y="19400937"/>
              <a:ext cx="11762232" cy="1172141"/>
            </a:xfrm>
            <a:prstGeom prst="rect">
              <a:avLst/>
            </a:prstGeom>
            <a:noFill/>
            <a:ln/>
          </p:spPr>
          <p:txBody>
            <a:bodyPr wrap="square" lIns="0" tIns="0" rIns="0" bIns="0" rtlCol="0" anchor="t"/>
            <a:lstStyle/>
            <a:p>
              <a:pPr marL="0" indent="0" algn="l">
                <a:lnSpc>
                  <a:spcPts val="4660"/>
                </a:lnSpc>
                <a:buNone/>
              </a:pPr>
              <a:r>
                <a:rPr lang="en-US" sz="3380" dirty="0">
                  <a:solidFill>
                    <a:srgbClr val="FBE3E3"/>
                  </a:solidFill>
                  <a:latin typeface="Barlow" pitchFamily="34" charset="0"/>
                  <a:ea typeface="Barlow" pitchFamily="34" charset="-122"/>
                  <a:cs typeface="Barlow" pitchFamily="34" charset="-120"/>
                </a:rPr>
                <a:t>CO</a:t>
              </a:r>
              <a:r>
                <a:rPr lang="en-US" sz="3380" baseline="-40000" dirty="0">
                  <a:solidFill>
                    <a:srgbClr val="FBE3E3"/>
                  </a:solidFill>
                  <a:latin typeface="Barlow" pitchFamily="34" charset="0"/>
                  <a:ea typeface="Barlow" pitchFamily="34" charset="-122"/>
                  <a:cs typeface="Barlow" pitchFamily="34" charset="-120"/>
                </a:rPr>
                <a:t>2</a:t>
              </a:r>
              <a:r>
                <a:rPr lang="en-US" sz="3380" dirty="0">
                  <a:solidFill>
                    <a:srgbClr val="FBE3E3"/>
                  </a:solidFill>
                  <a:latin typeface="Barlow" pitchFamily="34" charset="0"/>
                  <a:ea typeface="Barlow" pitchFamily="34" charset="-122"/>
                  <a:cs typeface="Barlow" pitchFamily="34" charset="-120"/>
                </a:rPr>
                <a:t> flux ranked third in‑sample while </a:t>
              </a:r>
              <a:r>
                <a:rPr lang="en-US" sz="3380" i="1" dirty="0">
                  <a:solidFill>
                    <a:srgbClr val="FBE3E3"/>
                  </a:solidFill>
                  <a:latin typeface="Barlow" pitchFamily="34" charset="0"/>
                  <a:ea typeface="Barlow" pitchFamily="34" charset="-122"/>
                  <a:cs typeface="Barlow" pitchFamily="34" charset="-120"/>
                </a:rPr>
                <a:t>degrading</a:t>
              </a:r>
              <a:r>
                <a:rPr lang="en-US" sz="3380" dirty="0">
                  <a:solidFill>
                    <a:srgbClr val="FBE3E3"/>
                  </a:solidFill>
                  <a:latin typeface="Barlow" pitchFamily="34" charset="0"/>
                  <a:ea typeface="Barlow" pitchFamily="34" charset="-122"/>
                  <a:cs typeface="Barlow" pitchFamily="34" charset="-120"/>
                </a:rPr>
                <a:t> held‑out prediction — visible only under permutation.</a:t>
              </a:r>
              <a:endParaRPr lang="en-US" sz="3380" dirty="0"/>
            </a:p>
          </p:txBody>
        </p:sp>
        <p:sp>
          <p:nvSpPr>
            <p:cNvPr id="51" name="Text 48"/>
            <p:cNvSpPr txBox="1"/>
            <p:nvPr/>
          </p:nvSpPr>
          <p:spPr>
            <a:xfrm>
              <a:off x="13773150" y="20726698"/>
              <a:ext cx="858202" cy="1453896"/>
            </a:xfrm>
            <a:prstGeom prst="rect">
              <a:avLst/>
            </a:prstGeom>
            <a:noFill/>
            <a:ln/>
          </p:spPr>
          <p:txBody>
            <a:bodyPr wrap="none" lIns="0" tIns="0" rIns="0" bIns="0" rtlCol="0" anchor="t"/>
            <a:lstStyle/>
            <a:p>
              <a:pPr marL="0" indent="0" algn="l">
                <a:lnSpc>
                  <a:spcPts val="9000"/>
                </a:lnSpc>
                <a:buNone/>
              </a:pPr>
              <a:r>
                <a:rPr lang="en-US" sz="9000" b="1" dirty="0">
                  <a:solidFill>
                    <a:srgbClr val="F5F1E7"/>
                  </a:solidFill>
                  <a:latin typeface="Barlow Condensed" pitchFamily="34" charset="0"/>
                  <a:ea typeface="Barlow Condensed" pitchFamily="34" charset="-122"/>
                  <a:cs typeface="Barlow Condensed" pitchFamily="34" charset="-120"/>
                </a:rPr>
                <a:t>4</a:t>
              </a:r>
              <a:endParaRPr lang="en-US" sz="9000" dirty="0"/>
            </a:p>
          </p:txBody>
        </p:sp>
        <p:sp>
          <p:nvSpPr>
            <p:cNvPr id="52" name="Text 49"/>
            <p:cNvSpPr txBox="1"/>
            <p:nvPr/>
          </p:nvSpPr>
          <p:spPr>
            <a:xfrm>
              <a:off x="14725650" y="20917198"/>
              <a:ext cx="11762232" cy="1343623"/>
            </a:xfrm>
            <a:prstGeom prst="rect">
              <a:avLst/>
            </a:prstGeom>
            <a:noFill/>
            <a:ln/>
          </p:spPr>
          <p:txBody>
            <a:bodyPr wrap="square" lIns="0" tIns="0" rIns="0" bIns="0" rtlCol="0" anchor="t"/>
            <a:lstStyle/>
            <a:p>
              <a:pPr marL="0" indent="0" algn="l">
                <a:lnSpc>
                  <a:spcPts val="4960"/>
                </a:lnSpc>
                <a:buNone/>
              </a:pPr>
              <a:r>
                <a:rPr lang="en-US" sz="4200" dirty="0">
                  <a:solidFill>
                    <a:srgbClr val="FFFFFF"/>
                  </a:solidFill>
                  <a:latin typeface="Barlow SemiBold" pitchFamily="34" charset="0"/>
                  <a:ea typeface="Barlow SemiBold" pitchFamily="34" charset="-122"/>
                  <a:cs typeface="Barlow SemiBold" pitchFamily="34" charset="-120"/>
                </a:rPr>
                <a:t>Match covariate resolution to your sampling design</a:t>
              </a:r>
              <a:endParaRPr lang="en-US" sz="4200" dirty="0"/>
            </a:p>
          </p:txBody>
        </p:sp>
        <p:sp>
          <p:nvSpPr>
            <p:cNvPr id="53" name="Text 50"/>
            <p:cNvSpPr txBox="1"/>
            <p:nvPr/>
          </p:nvSpPr>
          <p:spPr>
            <a:xfrm>
              <a:off x="14725650" y="22318861"/>
              <a:ext cx="11762232" cy="1799070"/>
            </a:xfrm>
            <a:prstGeom prst="rect">
              <a:avLst/>
            </a:prstGeom>
            <a:noFill/>
            <a:ln/>
          </p:spPr>
          <p:txBody>
            <a:bodyPr wrap="square" lIns="0" tIns="0" rIns="0" bIns="0" rtlCol="0" anchor="t"/>
            <a:lstStyle/>
            <a:p>
              <a:pPr marL="0" indent="0" algn="l">
                <a:lnSpc>
                  <a:spcPts val="4660"/>
                </a:lnSpc>
                <a:buNone/>
              </a:pPr>
              <a:r>
                <a:rPr lang="en-US" sz="3380" dirty="0">
                  <a:solidFill>
                    <a:srgbClr val="FBE3E3"/>
                  </a:solidFill>
                  <a:latin typeface="Barlow" pitchFamily="34" charset="0"/>
                  <a:ea typeface="Barlow" pitchFamily="34" charset="-122"/>
                  <a:cs typeface="Barlow" pitchFamily="34" charset="-120"/>
                </a:rPr>
                <a:t>An annual SPEI index on multi‑season sampling is collinear with year by construction. Extracted per sampling window, ours became testable.</a:t>
              </a:r>
              <a:endParaRPr lang="en-US" sz="3380" dirty="0"/>
            </a:p>
          </p:txBody>
        </p:sp>
        <p:sp>
          <p:nvSpPr>
            <p:cNvPr id="54" name="Text 51"/>
            <p:cNvSpPr txBox="1"/>
            <p:nvPr/>
          </p:nvSpPr>
          <p:spPr>
            <a:xfrm>
              <a:off x="13773150" y="24236065"/>
              <a:ext cx="858202" cy="1453896"/>
            </a:xfrm>
            <a:prstGeom prst="rect">
              <a:avLst/>
            </a:prstGeom>
            <a:noFill/>
            <a:ln/>
          </p:spPr>
          <p:txBody>
            <a:bodyPr wrap="none" lIns="0" tIns="0" rIns="0" bIns="0" rtlCol="0" anchor="t"/>
            <a:lstStyle/>
            <a:p>
              <a:pPr marL="0" indent="0" algn="l">
                <a:lnSpc>
                  <a:spcPts val="9000"/>
                </a:lnSpc>
                <a:buNone/>
              </a:pPr>
              <a:r>
                <a:rPr lang="en-US" sz="9000" b="1" dirty="0">
                  <a:solidFill>
                    <a:srgbClr val="F5F1E7"/>
                  </a:solidFill>
                  <a:latin typeface="Barlow Condensed" pitchFamily="34" charset="0"/>
                  <a:ea typeface="Barlow Condensed" pitchFamily="34" charset="-122"/>
                  <a:cs typeface="Barlow Condensed" pitchFamily="34" charset="-120"/>
                </a:rPr>
                <a:t>5</a:t>
              </a:r>
              <a:endParaRPr lang="en-US" sz="9000" dirty="0"/>
            </a:p>
          </p:txBody>
        </p:sp>
        <p:sp>
          <p:nvSpPr>
            <p:cNvPr id="55" name="Text 52"/>
            <p:cNvSpPr txBox="1"/>
            <p:nvPr/>
          </p:nvSpPr>
          <p:spPr>
            <a:xfrm>
              <a:off x="14725650" y="24426565"/>
              <a:ext cx="11762232" cy="1343623"/>
            </a:xfrm>
            <a:prstGeom prst="rect">
              <a:avLst/>
            </a:prstGeom>
            <a:noFill/>
            <a:ln/>
          </p:spPr>
          <p:txBody>
            <a:bodyPr wrap="square" lIns="0" tIns="0" rIns="0" bIns="0" rtlCol="0" anchor="t"/>
            <a:lstStyle/>
            <a:p>
              <a:pPr marL="0" indent="0" algn="l">
                <a:lnSpc>
                  <a:spcPts val="4960"/>
                </a:lnSpc>
                <a:buNone/>
              </a:pPr>
              <a:r>
                <a:rPr lang="en-US" sz="4200" dirty="0">
                  <a:solidFill>
                    <a:srgbClr val="FFFFFF"/>
                  </a:solidFill>
                  <a:latin typeface="Barlow SemiBold" pitchFamily="34" charset="0"/>
                  <a:ea typeface="Barlow SemiBold" pitchFamily="34" charset="-122"/>
                  <a:cs typeface="Barlow SemiBold" pitchFamily="34" charset="-120"/>
                </a:rPr>
                <a:t>Run the temporal holdout first — it decides whether the rest is worth building</a:t>
              </a:r>
              <a:endParaRPr lang="en-US" sz="4200" dirty="0"/>
            </a:p>
          </p:txBody>
        </p:sp>
        <p:sp>
          <p:nvSpPr>
            <p:cNvPr id="56" name="Text 53"/>
            <p:cNvSpPr txBox="1"/>
            <p:nvPr/>
          </p:nvSpPr>
          <p:spPr>
            <a:xfrm>
              <a:off x="14725650" y="25828228"/>
              <a:ext cx="11762232" cy="1799070"/>
            </a:xfrm>
            <a:prstGeom prst="rect">
              <a:avLst/>
            </a:prstGeom>
            <a:noFill/>
            <a:ln/>
          </p:spPr>
          <p:txBody>
            <a:bodyPr wrap="square" lIns="0" tIns="0" rIns="0" bIns="0" rtlCol="0" anchor="t"/>
            <a:lstStyle/>
            <a:p>
              <a:pPr marL="0" indent="0" algn="l">
                <a:lnSpc>
                  <a:spcPts val="4660"/>
                </a:lnSpc>
                <a:buNone/>
              </a:pPr>
              <a:r>
                <a:rPr lang="en-US" sz="3380" dirty="0">
                  <a:solidFill>
                    <a:srgbClr val="FBE3E3"/>
                  </a:solidFill>
                  <a:latin typeface="Barlow" pitchFamily="34" charset="0"/>
                  <a:ea typeface="Barlow" pitchFamily="34" charset="-122"/>
                  <a:cs typeface="Barlow" pitchFamily="34" charset="-120"/>
                </a:rPr>
                <a:t>Report interval coverage </a:t>
              </a:r>
              <a:r>
                <a:rPr lang="en-US" sz="3380" i="1" dirty="0">
                  <a:solidFill>
                    <a:srgbClr val="FBE3E3"/>
                  </a:solidFill>
                  <a:latin typeface="Barlow" pitchFamily="34" charset="0"/>
                  <a:ea typeface="Barlow" pitchFamily="34" charset="-122"/>
                  <a:cs typeface="Barlow" pitchFamily="34" charset="-120"/>
                </a:rPr>
                <a:t>with</a:t>
              </a:r>
              <a:r>
                <a:rPr lang="en-US" sz="3380" dirty="0">
                  <a:solidFill>
                    <a:srgbClr val="FBE3E3"/>
                  </a:solidFill>
                  <a:latin typeface="Barlow" pitchFamily="34" charset="0"/>
                  <a:ea typeface="Barlow" pitchFamily="34" charset="-122"/>
                  <a:cs typeface="Barlow" pitchFamily="34" charset="-120"/>
                </a:rPr>
                <a:t> width. Ours reached 100% coverage only because the intervals exceeded the full observed range.</a:t>
              </a:r>
              <a:endParaRPr lang="en-US" sz="3380" dirty="0"/>
            </a:p>
          </p:txBody>
        </p:sp>
      </p:grpSp>
      <p:sp>
        <p:nvSpPr>
          <p:cNvPr id="69" name="Text 66"/>
          <p:cNvSpPr txBox="1"/>
          <p:nvPr/>
        </p:nvSpPr>
        <p:spPr>
          <a:xfrm>
            <a:off x="16029432" y="37772035"/>
            <a:ext cx="9509760" cy="565404"/>
          </a:xfrm>
          <a:prstGeom prst="rect">
            <a:avLst/>
          </a:prstGeom>
          <a:noFill/>
          <a:ln/>
        </p:spPr>
        <p:txBody>
          <a:bodyPr wrap="none" lIns="0" tIns="0" rIns="0" bIns="0" rtlCol="0" anchor="t"/>
          <a:lstStyle/>
          <a:p>
            <a:pPr marL="0" indent="0" algn="l">
              <a:lnSpc>
                <a:spcPts val="4760"/>
              </a:lnSpc>
              <a:buNone/>
            </a:pPr>
            <a:r>
              <a:rPr lang="en-US" sz="3530" dirty="0">
                <a:solidFill>
                  <a:srgbClr val="242424"/>
                </a:solidFill>
                <a:latin typeface="Barlow SemiBold" pitchFamily="34" charset="0"/>
                <a:ea typeface="Barlow SemiBold" pitchFamily="34" charset="-122"/>
                <a:cs typeface="Barlow SemiBold" pitchFamily="34" charset="-120"/>
              </a:rPr>
              <a:t>View Tableau Dashboard</a:t>
            </a:r>
            <a:endParaRPr lang="en-US" sz="3530" dirty="0"/>
          </a:p>
        </p:txBody>
      </p:sp>
      <p:sp>
        <p:nvSpPr>
          <p:cNvPr id="71" name="Text 68"/>
          <p:cNvSpPr txBox="1"/>
          <p:nvPr/>
        </p:nvSpPr>
        <p:spPr>
          <a:xfrm>
            <a:off x="16029432" y="38430403"/>
            <a:ext cx="9509760" cy="565404"/>
          </a:xfrm>
          <a:prstGeom prst="rect">
            <a:avLst/>
          </a:prstGeom>
          <a:noFill/>
          <a:ln/>
        </p:spPr>
        <p:txBody>
          <a:bodyPr wrap="none" lIns="0" tIns="0" rIns="0" bIns="0" rtlCol="0" anchor="t"/>
          <a:lstStyle/>
          <a:p>
            <a:pPr marL="0" indent="0" algn="l">
              <a:lnSpc>
                <a:spcPts val="4760"/>
              </a:lnSpc>
              <a:buNone/>
            </a:pPr>
            <a:r>
              <a:rPr lang="en-US" sz="3530" dirty="0">
                <a:solidFill>
                  <a:srgbClr val="242424"/>
                </a:solidFill>
                <a:latin typeface="Barlow" pitchFamily="34" charset="0"/>
              </a:rPr>
              <a:t>aairori2@unl.edu</a:t>
            </a:r>
            <a:endParaRPr lang="en-US" sz="3530" dirty="0"/>
          </a:p>
        </p:txBody>
      </p:sp>
      <p:sp>
        <p:nvSpPr>
          <p:cNvPr id="72" name="Text 69"/>
          <p:cNvSpPr txBox="1"/>
          <p:nvPr/>
        </p:nvSpPr>
        <p:spPr>
          <a:xfrm>
            <a:off x="27755850" y="6976872"/>
            <a:ext cx="13235940" cy="797624"/>
          </a:xfrm>
          <a:prstGeom prst="rect">
            <a:avLst/>
          </a:prstGeom>
          <a:noFill/>
          <a:ln/>
        </p:spPr>
        <p:txBody>
          <a:bodyPr wrap="none" lIns="0" tIns="0" rIns="0" bIns="0" rtlCol="0" anchor="t"/>
          <a:lstStyle/>
          <a:p>
            <a:pPr marL="0" indent="0" algn="l">
              <a:lnSpc>
                <a:spcPts val="5200"/>
              </a:lnSpc>
              <a:buNone/>
            </a:pPr>
            <a:r>
              <a:rPr lang="en-US" sz="6000" b="1" kern="0" spc="150" dirty="0">
                <a:solidFill>
                  <a:srgbClr val="D00000"/>
                </a:solidFill>
                <a:latin typeface="Barlow Condensed" pitchFamily="34" charset="0"/>
                <a:ea typeface="Barlow Condensed" pitchFamily="34" charset="-122"/>
                <a:cs typeface="Barlow Condensed" pitchFamily="34" charset="-120"/>
              </a:rPr>
              <a:t>RESULTS</a:t>
            </a:r>
            <a:endParaRPr lang="en-US" sz="4950" dirty="0"/>
          </a:p>
        </p:txBody>
      </p:sp>
      <p:grpSp>
        <p:nvGrpSpPr>
          <p:cNvPr id="38" name="Group 37">
            <a:extLst>
              <a:ext uri="{FF2B5EF4-FFF2-40B4-BE49-F238E27FC236}">
                <a16:creationId xmlns:a16="http://schemas.microsoft.com/office/drawing/2014/main" id="{0675AF2E-1DC6-B279-F37A-E39D22C272D1}"/>
              </a:ext>
            </a:extLst>
          </p:cNvPr>
          <p:cNvGrpSpPr/>
          <p:nvPr/>
        </p:nvGrpSpPr>
        <p:grpSpPr>
          <a:xfrm>
            <a:off x="27931491" y="18042005"/>
            <a:ext cx="13274040" cy="1056542"/>
            <a:chOff x="27755850" y="17983568"/>
            <a:chExt cx="13274040" cy="1056542"/>
          </a:xfrm>
        </p:grpSpPr>
        <p:sp>
          <p:nvSpPr>
            <p:cNvPr id="77" name="Text 73"/>
            <p:cNvSpPr txBox="1"/>
            <p:nvPr/>
          </p:nvSpPr>
          <p:spPr>
            <a:xfrm>
              <a:off x="27755850" y="17983568"/>
              <a:ext cx="13235940" cy="595694"/>
            </a:xfrm>
            <a:prstGeom prst="rect">
              <a:avLst/>
            </a:prstGeom>
            <a:noFill/>
            <a:ln/>
          </p:spPr>
          <p:txBody>
            <a:bodyPr wrap="none" lIns="0" tIns="0" rIns="0" bIns="0" rtlCol="0" anchor="t"/>
            <a:lstStyle/>
            <a:p>
              <a:pPr marL="0" indent="0" algn="l">
                <a:lnSpc>
                  <a:spcPts val="4590"/>
                </a:lnSpc>
                <a:buNone/>
              </a:pPr>
              <a:r>
                <a:rPr lang="en-US" sz="3680" dirty="0">
                  <a:solidFill>
                    <a:srgbClr val="242424"/>
                  </a:solidFill>
                  <a:latin typeface="Barlow SemiBold" pitchFamily="34" charset="0"/>
                  <a:ea typeface="Barlow SemiBold" pitchFamily="34" charset="-122"/>
                  <a:cs typeface="Barlow SemiBold" pitchFamily="34" charset="-120"/>
                </a:rPr>
                <a:t>Yet grazing depleted N where nothing replaced it</a:t>
              </a:r>
              <a:endParaRPr lang="en-US" sz="3680" dirty="0"/>
            </a:p>
          </p:txBody>
        </p:sp>
        <p:sp>
          <p:nvSpPr>
            <p:cNvPr id="78" name="Text 74"/>
            <p:cNvSpPr txBox="1"/>
            <p:nvPr/>
          </p:nvSpPr>
          <p:spPr>
            <a:xfrm>
              <a:off x="27793950" y="18605960"/>
              <a:ext cx="13235940" cy="434150"/>
            </a:xfrm>
            <a:prstGeom prst="rect">
              <a:avLst/>
            </a:prstGeom>
            <a:noFill/>
            <a:ln/>
          </p:spPr>
          <p:txBody>
            <a:bodyPr wrap="none" lIns="0" tIns="0" rIns="0" bIns="0" rtlCol="0" anchor="t"/>
            <a:lstStyle/>
            <a:p>
              <a:pPr marL="0" indent="0" algn="l">
                <a:lnSpc>
                  <a:spcPts val="3240"/>
                </a:lnSpc>
                <a:buNone/>
              </a:pPr>
              <a:r>
                <a:rPr lang="en-US" sz="2700" dirty="0">
                  <a:solidFill>
                    <a:srgbClr val="5E5E5E"/>
                  </a:solidFill>
                  <a:latin typeface="Barlow" pitchFamily="34" charset="0"/>
                  <a:ea typeface="Barlow" pitchFamily="34" charset="-122"/>
                  <a:cs typeface="Barlow" pitchFamily="34" charset="-120"/>
                </a:rPr>
                <a:t>Grazed minus ungrazed, mg kg</a:t>
              </a:r>
              <a:r>
                <a:rPr lang="en-US" sz="2700" baseline="30000" dirty="0">
                  <a:solidFill>
                    <a:srgbClr val="5E5E5E"/>
                  </a:solidFill>
                  <a:latin typeface="Barlow" pitchFamily="34" charset="0"/>
                  <a:ea typeface="Barlow" pitchFamily="34" charset="-122"/>
                  <a:cs typeface="Barlow" pitchFamily="34" charset="-120"/>
                </a:rPr>
                <a:t>−1</a:t>
              </a:r>
              <a:r>
                <a:rPr lang="en-US" sz="2700" dirty="0">
                  <a:solidFill>
                    <a:srgbClr val="5E5E5E"/>
                  </a:solidFill>
                  <a:latin typeface="Barlow" pitchFamily="34" charset="0"/>
                  <a:ea typeface="Barlow" pitchFamily="34" charset="-122"/>
                  <a:cs typeface="Barlow" pitchFamily="34" charset="-120"/>
                </a:rPr>
                <a:t> · Mann–Whitney U</a:t>
              </a:r>
              <a:endParaRPr lang="en-US" sz="2700" dirty="0"/>
            </a:p>
          </p:txBody>
        </p:sp>
      </p:grpSp>
      <p:graphicFrame>
        <p:nvGraphicFramePr>
          <p:cNvPr id="79" name="Table 1"/>
          <p:cNvGraphicFramePr>
            <a:graphicFrameLocks noGrp="1"/>
          </p:cNvGraphicFramePr>
          <p:nvPr>
            <p:extLst>
              <p:ext uri="{D42A27DB-BD31-4B8C-83A1-F6EECF244321}">
                <p14:modId xmlns:p14="http://schemas.microsoft.com/office/powerpoint/2010/main" val="3748149517"/>
              </p:ext>
            </p:extLst>
          </p:nvPr>
        </p:nvGraphicFramePr>
        <p:xfrm>
          <a:off x="27978234" y="19262669"/>
          <a:ext cx="11078717" cy="7214469"/>
        </p:xfrm>
        <a:graphic>
          <a:graphicData uri="http://schemas.openxmlformats.org/drawingml/2006/table">
            <a:tbl>
              <a:tblPr/>
              <a:tblGrid>
                <a:gridCol w="3572887">
                  <a:extLst>
                    <a:ext uri="{9D8B030D-6E8A-4147-A177-3AD203B41FA5}">
                      <a16:colId xmlns:a16="http://schemas.microsoft.com/office/drawing/2014/main" val="20000"/>
                    </a:ext>
                  </a:extLst>
                </a:gridCol>
                <a:gridCol w="1892614">
                  <a:extLst>
                    <a:ext uri="{9D8B030D-6E8A-4147-A177-3AD203B41FA5}">
                      <a16:colId xmlns:a16="http://schemas.microsoft.com/office/drawing/2014/main" val="20001"/>
                    </a:ext>
                  </a:extLst>
                </a:gridCol>
                <a:gridCol w="1892614">
                  <a:extLst>
                    <a:ext uri="{9D8B030D-6E8A-4147-A177-3AD203B41FA5}">
                      <a16:colId xmlns:a16="http://schemas.microsoft.com/office/drawing/2014/main" val="20002"/>
                    </a:ext>
                  </a:extLst>
                </a:gridCol>
                <a:gridCol w="1892614">
                  <a:extLst>
                    <a:ext uri="{9D8B030D-6E8A-4147-A177-3AD203B41FA5}">
                      <a16:colId xmlns:a16="http://schemas.microsoft.com/office/drawing/2014/main" val="20003"/>
                    </a:ext>
                  </a:extLst>
                </a:gridCol>
                <a:gridCol w="1827988">
                  <a:extLst>
                    <a:ext uri="{9D8B030D-6E8A-4147-A177-3AD203B41FA5}">
                      <a16:colId xmlns:a16="http://schemas.microsoft.com/office/drawing/2014/main" val="20004"/>
                    </a:ext>
                  </a:extLst>
                </a:gridCol>
              </a:tblGrid>
              <a:tr h="577629">
                <a:tc>
                  <a:txBody>
                    <a:bodyPr/>
                    <a:lstStyle/>
                    <a:p>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080" dirty="0">
                          <a:solidFill>
                            <a:srgbClr val="5E5E5E"/>
                          </a:solidFill>
                          <a:latin typeface="Barlow SemiBold" pitchFamily="34" charset="0"/>
                          <a:ea typeface="Barlow SemiBold" pitchFamily="34" charset="-122"/>
                          <a:cs typeface="Barlow SemiBold" pitchFamily="34" charset="-120"/>
                        </a:rPr>
                        <a:t>2020</a:t>
                      </a:r>
                      <a:endParaRPr lang="en-US" sz="263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080" dirty="0">
                          <a:solidFill>
                            <a:srgbClr val="5E5E5E"/>
                          </a:solidFill>
                          <a:latin typeface="Barlow SemiBold" pitchFamily="34" charset="0"/>
                          <a:ea typeface="Barlow SemiBold" pitchFamily="34" charset="-122"/>
                          <a:cs typeface="Barlow SemiBold" pitchFamily="34" charset="-120"/>
                        </a:rPr>
                        <a:t>2021</a:t>
                      </a:r>
                      <a:endParaRPr lang="en-US" sz="263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080" dirty="0">
                          <a:solidFill>
                            <a:srgbClr val="5E5E5E"/>
                          </a:solidFill>
                          <a:latin typeface="Barlow SemiBold" pitchFamily="34" charset="0"/>
                          <a:ea typeface="Barlow SemiBold" pitchFamily="34" charset="-122"/>
                          <a:cs typeface="Barlow SemiBold" pitchFamily="34" charset="-120"/>
                        </a:rPr>
                        <a:t>2022</a:t>
                      </a:r>
                      <a:endParaRPr lang="en-US" sz="263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080" dirty="0">
                          <a:solidFill>
                            <a:srgbClr val="5E5E5E"/>
                          </a:solidFill>
                          <a:latin typeface="Barlow SemiBold" pitchFamily="34" charset="0"/>
                          <a:ea typeface="Barlow SemiBold" pitchFamily="34" charset="-122"/>
                          <a:cs typeface="Barlow SemiBold" pitchFamily="34" charset="-120"/>
                        </a:rPr>
                        <a:t>2023</a:t>
                      </a:r>
                      <a:endParaRPr lang="en-US" sz="2630" dirty="0">
                        <a:latin typeface="Barlow SemiBold" charset="0"/>
                        <a:ea typeface="Barlow SemiBold" charset="0"/>
                        <a:cs typeface="Barlow SemiBold"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119893">
                <a:tc>
                  <a:txBody>
                    <a:bodyPr/>
                    <a:lstStyle/>
                    <a:p>
                      <a:pPr marL="0" indent="0" algn="l">
                        <a:buNone/>
                      </a:pPr>
                      <a:r>
                        <a:rPr lang="en-US" sz="3300" b="1" dirty="0">
                          <a:solidFill>
                            <a:srgbClr val="242424"/>
                          </a:solidFill>
                          <a:latin typeface="Barlow" pitchFamily="34" charset="0"/>
                          <a:ea typeface="Barlow" pitchFamily="34" charset="-122"/>
                          <a:cs typeface="Barlow" pitchFamily="34" charset="-120"/>
                        </a:rPr>
                        <a:t>Unfertilized · NH</a:t>
                      </a:r>
                      <a:r>
                        <a:rPr lang="en-US" sz="3300" b="1" baseline="-40000" dirty="0">
                          <a:solidFill>
                            <a:srgbClr val="242424"/>
                          </a:solidFill>
                          <a:latin typeface="Barlow" pitchFamily="34" charset="0"/>
                          <a:ea typeface="Barlow" pitchFamily="34" charset="-122"/>
                          <a:cs typeface="Barlow" pitchFamily="34" charset="-120"/>
                        </a:rPr>
                        <a:t>4</a:t>
                      </a:r>
                      <a:r>
                        <a:rPr lang="en-US" sz="3300" b="1" baseline="30000" dirty="0">
                          <a:solidFill>
                            <a:srgbClr val="242424"/>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+1.1</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BF0EB"/>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−0.2</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5F5F3"/>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−2.6</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CEAF8"/>
                    </a:solidFill>
                  </a:tcPr>
                </a:tc>
                <a:tc>
                  <a:txBody>
                    <a:bodyPr/>
                    <a:lstStyle/>
                    <a:p>
                      <a:pPr marL="0" indent="0" algn="ctr">
                        <a:buNone/>
                      </a:pPr>
                      <a:r>
                        <a:rPr lang="en-US" sz="3300" b="1" dirty="0">
                          <a:solidFill>
                            <a:srgbClr val="FFFFFF"/>
                          </a:solidFill>
                          <a:latin typeface="Barlow" pitchFamily="34" charset="0"/>
                          <a:ea typeface="Barlow" pitchFamily="34" charset="-122"/>
                          <a:cs typeface="Barlow" pitchFamily="34" charset="-120"/>
                        </a:rPr>
                        <a:t>−11.5**</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1F5FA8"/>
                    </a:solidFill>
                  </a:tcPr>
                </a:tc>
                <a:extLst>
                  <a:ext uri="{0D108BD9-81ED-4DB2-BD59-A6C34878D82A}">
                    <a16:rowId xmlns:a16="http://schemas.microsoft.com/office/drawing/2014/main" val="10001"/>
                  </a:ext>
                </a:extLst>
              </a:tr>
              <a:tr h="1119893">
                <a:tc>
                  <a:txBody>
                    <a:bodyPr/>
                    <a:lstStyle/>
                    <a:p>
                      <a:pPr marL="0" indent="0" algn="l">
                        <a:buNone/>
                      </a:pPr>
                      <a:r>
                        <a:rPr lang="en-US" sz="3300" b="1" dirty="0">
                          <a:solidFill>
                            <a:srgbClr val="242424"/>
                          </a:solidFill>
                          <a:latin typeface="Barlow" pitchFamily="34" charset="0"/>
                          <a:ea typeface="Barlow" pitchFamily="34" charset="-122"/>
                          <a:cs typeface="Barlow" pitchFamily="34" charset="-120"/>
                        </a:rPr>
                        <a:t>Unfertilized · NO</a:t>
                      </a:r>
                      <a:r>
                        <a:rPr lang="en-US" sz="3300" b="1" baseline="-40000" dirty="0">
                          <a:solidFill>
                            <a:srgbClr val="242424"/>
                          </a:solidFill>
                          <a:latin typeface="Barlow" pitchFamily="34" charset="0"/>
                          <a:ea typeface="Barlow" pitchFamily="34" charset="-122"/>
                          <a:cs typeface="Barlow" pitchFamily="34" charset="-120"/>
                        </a:rPr>
                        <a:t>3</a:t>
                      </a:r>
                      <a:r>
                        <a:rPr lang="en-US" sz="3300" b="1" baseline="30000" dirty="0">
                          <a:solidFill>
                            <a:srgbClr val="242424"/>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+4.0</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6C6A0"/>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+2.9*</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8D6BC"/>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−2.9</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CEAF8"/>
                    </a:solidFill>
                  </a:tcPr>
                </a:tc>
                <a:tc>
                  <a:txBody>
                    <a:bodyPr/>
                    <a:lstStyle/>
                    <a:p>
                      <a:pPr marL="0" indent="0" algn="ctr">
                        <a:buNone/>
                      </a:pPr>
                      <a:r>
                        <a:rPr lang="en-US" sz="3300" b="1" dirty="0">
                          <a:solidFill>
                            <a:srgbClr val="FFFFFF"/>
                          </a:solidFill>
                          <a:latin typeface="Barlow" pitchFamily="34" charset="0"/>
                          <a:ea typeface="Barlow" pitchFamily="34" charset="-122"/>
                          <a:cs typeface="Barlow" pitchFamily="34" charset="-120"/>
                        </a:rPr>
                        <a:t>−15.0**</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0B3F78"/>
                    </a:solidFill>
                  </a:tcPr>
                </a:tc>
                <a:extLst>
                  <a:ext uri="{0D108BD9-81ED-4DB2-BD59-A6C34878D82A}">
                    <a16:rowId xmlns:a16="http://schemas.microsoft.com/office/drawing/2014/main" val="10002"/>
                  </a:ext>
                </a:extLst>
              </a:tr>
              <a:tr h="1119893">
                <a:tc>
                  <a:txBody>
                    <a:bodyPr/>
                    <a:lstStyle/>
                    <a:p>
                      <a:pPr marL="0" indent="0" algn="l">
                        <a:buNone/>
                      </a:pPr>
                      <a:r>
                        <a:rPr lang="en-US" sz="3300" dirty="0">
                          <a:solidFill>
                            <a:srgbClr val="242424"/>
                          </a:solidFill>
                          <a:latin typeface="Barlow" pitchFamily="34" charset="0"/>
                          <a:ea typeface="Barlow" pitchFamily="34" charset="-122"/>
                          <a:cs typeface="Barlow" pitchFamily="34" charset="-120"/>
                        </a:rPr>
                        <a:t>Fertilized · NH</a:t>
                      </a:r>
                      <a:r>
                        <a:rPr lang="en-US" sz="3300" baseline="-40000" dirty="0">
                          <a:solidFill>
                            <a:srgbClr val="242424"/>
                          </a:solidFill>
                          <a:latin typeface="Barlow" pitchFamily="34" charset="0"/>
                          <a:ea typeface="Barlow" pitchFamily="34" charset="-122"/>
                          <a:cs typeface="Barlow" pitchFamily="34" charset="-120"/>
                        </a:rPr>
                        <a:t>4</a:t>
                      </a:r>
                      <a:r>
                        <a:rPr lang="en-US" sz="3300" baseline="30000" dirty="0">
                          <a:solidFill>
                            <a:srgbClr val="242424"/>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−1.9*</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6F1FB"/>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−2.9</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2E4F7"/>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+1.1</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BF0EB"/>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+5.3</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0B07E"/>
                    </a:solidFill>
                  </a:tcPr>
                </a:tc>
                <a:extLst>
                  <a:ext uri="{0D108BD9-81ED-4DB2-BD59-A6C34878D82A}">
                    <a16:rowId xmlns:a16="http://schemas.microsoft.com/office/drawing/2014/main" val="10003"/>
                  </a:ext>
                </a:extLst>
              </a:tr>
              <a:tr h="1119893">
                <a:tc>
                  <a:txBody>
                    <a:bodyPr/>
                    <a:lstStyle/>
                    <a:p>
                      <a:pPr marL="0" indent="0" algn="l">
                        <a:buNone/>
                      </a:pPr>
                      <a:r>
                        <a:rPr lang="en-US" sz="3300" dirty="0">
                          <a:solidFill>
                            <a:srgbClr val="242424"/>
                          </a:solidFill>
                          <a:latin typeface="Barlow" pitchFamily="34" charset="0"/>
                          <a:ea typeface="Barlow" pitchFamily="34" charset="-122"/>
                          <a:cs typeface="Barlow" pitchFamily="34" charset="-120"/>
                        </a:rPr>
                        <a:t>Fertilized · NO</a:t>
                      </a:r>
                      <a:r>
                        <a:rPr lang="en-US" sz="3300" baseline="-40000" dirty="0">
                          <a:solidFill>
                            <a:srgbClr val="242424"/>
                          </a:solidFill>
                          <a:latin typeface="Barlow" pitchFamily="34" charset="0"/>
                          <a:ea typeface="Barlow" pitchFamily="34" charset="-122"/>
                          <a:cs typeface="Barlow" pitchFamily="34" charset="-120"/>
                        </a:rPr>
                        <a:t>3</a:t>
                      </a:r>
                      <a:r>
                        <a:rPr lang="en-US" sz="3300" baseline="30000" dirty="0">
                          <a:solidFill>
                            <a:srgbClr val="242424"/>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−2.5</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DCEAF8"/>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+4.7*</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3BC8E"/>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−1.5</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DF4FC"/>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+7.5</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E8914F"/>
                    </a:solidFill>
                  </a:tcPr>
                </a:tc>
                <a:extLst>
                  <a:ext uri="{0D108BD9-81ED-4DB2-BD59-A6C34878D82A}">
                    <a16:rowId xmlns:a16="http://schemas.microsoft.com/office/drawing/2014/main" val="10004"/>
                  </a:ext>
                </a:extLst>
              </a:tr>
              <a:tr h="1119893">
                <a:tc>
                  <a:txBody>
                    <a:bodyPr/>
                    <a:lstStyle/>
                    <a:p>
                      <a:pPr marL="0" indent="0" algn="l">
                        <a:buNone/>
                      </a:pPr>
                      <a:r>
                        <a:rPr lang="en-US" sz="3300" dirty="0">
                          <a:solidFill>
                            <a:srgbClr val="242424"/>
                          </a:solidFill>
                          <a:latin typeface="Barlow" pitchFamily="34" charset="0"/>
                          <a:ea typeface="Barlow" pitchFamily="34" charset="-122"/>
                          <a:cs typeface="Barlow" pitchFamily="34" charset="-120"/>
                        </a:rPr>
                        <a:t>Legume · NH</a:t>
                      </a:r>
                      <a:r>
                        <a:rPr lang="en-US" sz="3300" baseline="-40000" dirty="0">
                          <a:solidFill>
                            <a:srgbClr val="242424"/>
                          </a:solidFill>
                          <a:latin typeface="Barlow" pitchFamily="34" charset="0"/>
                          <a:ea typeface="Barlow" pitchFamily="34" charset="-122"/>
                          <a:cs typeface="Barlow" pitchFamily="34" charset="-120"/>
                        </a:rPr>
                        <a:t>4</a:t>
                      </a:r>
                      <a:r>
                        <a:rPr lang="en-US" sz="3300" baseline="30000" dirty="0">
                          <a:solidFill>
                            <a:srgbClr val="242424"/>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300" dirty="0">
                          <a:solidFill>
                            <a:srgbClr val="8E8E8E"/>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1F1EF"/>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+0.1</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7F6F1"/>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−4.1</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BDD8F2"/>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+4.7</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3BC8E"/>
                    </a:solidFill>
                  </a:tcPr>
                </a:tc>
                <a:extLst>
                  <a:ext uri="{0D108BD9-81ED-4DB2-BD59-A6C34878D82A}">
                    <a16:rowId xmlns:a16="http://schemas.microsoft.com/office/drawing/2014/main" val="10005"/>
                  </a:ext>
                </a:extLst>
              </a:tr>
              <a:tr h="1037375">
                <a:tc>
                  <a:txBody>
                    <a:bodyPr/>
                    <a:lstStyle/>
                    <a:p>
                      <a:pPr marL="0" indent="0" algn="l">
                        <a:buNone/>
                      </a:pPr>
                      <a:r>
                        <a:rPr lang="en-US" sz="3300" dirty="0">
                          <a:solidFill>
                            <a:srgbClr val="242424"/>
                          </a:solidFill>
                          <a:latin typeface="Barlow" pitchFamily="34" charset="0"/>
                          <a:ea typeface="Barlow" pitchFamily="34" charset="-122"/>
                          <a:cs typeface="Barlow" pitchFamily="34" charset="-120"/>
                        </a:rPr>
                        <a:t>Legume · NO</a:t>
                      </a:r>
                      <a:r>
                        <a:rPr lang="en-US" sz="3300" baseline="-40000" dirty="0">
                          <a:solidFill>
                            <a:srgbClr val="242424"/>
                          </a:solidFill>
                          <a:latin typeface="Barlow" pitchFamily="34" charset="0"/>
                          <a:ea typeface="Barlow" pitchFamily="34" charset="-122"/>
                          <a:cs typeface="Barlow" pitchFamily="34" charset="-120"/>
                        </a:rPr>
                        <a:t>3</a:t>
                      </a:r>
                      <a:r>
                        <a:rPr lang="en-US" sz="3300" baseline="30000" dirty="0">
                          <a:solidFill>
                            <a:srgbClr val="242424"/>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0" marR="73152"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tcPr>
                </a:tc>
                <a:tc>
                  <a:txBody>
                    <a:bodyPr/>
                    <a:lstStyle/>
                    <a:p>
                      <a:pPr marL="0" indent="0" algn="ctr">
                        <a:buNone/>
                      </a:pPr>
                      <a:r>
                        <a:rPr lang="en-US" sz="3300" dirty="0">
                          <a:solidFill>
                            <a:srgbClr val="8E8E8E"/>
                          </a:solidFill>
                          <a:latin typeface="Barlow" pitchFamily="34" charset="0"/>
                          <a:ea typeface="Barlow" pitchFamily="34" charset="-122"/>
                          <a:cs typeface="Barlow" pitchFamily="34" charset="-120"/>
                        </a:rPr>
                        <a:t>—</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1F1EF"/>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+1.8</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BF0EB"/>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−9.9</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5C9BD9"/>
                    </a:solidFill>
                  </a:tcPr>
                </a:tc>
                <a:tc>
                  <a:txBody>
                    <a:bodyPr/>
                    <a:lstStyle/>
                    <a:p>
                      <a:pPr marL="0" indent="0" algn="ctr">
                        <a:buNone/>
                      </a:pPr>
                      <a:r>
                        <a:rPr lang="en-US" sz="3300" dirty="0">
                          <a:solidFill>
                            <a:srgbClr val="242424"/>
                          </a:solidFill>
                          <a:latin typeface="Barlow" pitchFamily="34" charset="0"/>
                          <a:ea typeface="Barlow" pitchFamily="34" charset="-122"/>
                          <a:cs typeface="Barlow" pitchFamily="34" charset="-120"/>
                        </a:rPr>
                        <a:t>+3.3</a:t>
                      </a:r>
                      <a:endParaRPr lang="en-US" sz="2850" dirty="0">
                        <a:latin typeface="Barlow" charset="0"/>
                        <a:ea typeface="Barlow" charset="0"/>
                        <a:cs typeface="Barlow" charset="0"/>
                      </a:endParaRPr>
                    </a:p>
                  </a:txBody>
                  <a:tcPr marL="54864" marR="54864" marT="9144" marB="9144" anchor="ctr">
                    <a:lnL w="66675" cap="flat" cmpd="sng" algn="ctr">
                      <a:solidFill>
                        <a:srgbClr val="FFFFFF"/>
                      </a:solidFill>
                      <a:prstDash val="solid"/>
                      <a:round/>
                      <a:headEnd type="none" w="med" len="med"/>
                      <a:tailEnd type="none" w="med" len="med"/>
                    </a:lnL>
                    <a:lnR w="66675" cap="flat" cmpd="sng" algn="ctr">
                      <a:solidFill>
                        <a:srgbClr val="FFFFFF"/>
                      </a:solidFill>
                      <a:prstDash val="solid"/>
                      <a:round/>
                      <a:headEnd type="none" w="med" len="med"/>
                      <a:tailEnd type="none" w="med" len="med"/>
                    </a:lnR>
                    <a:lnT w="66675" cap="flat" cmpd="sng" algn="ctr">
                      <a:solidFill>
                        <a:srgbClr val="FFFFFF"/>
                      </a:solidFill>
                      <a:prstDash val="solid"/>
                      <a:round/>
                      <a:headEnd type="none" w="med" len="med"/>
                      <a:tailEnd type="none" w="med" len="med"/>
                    </a:lnT>
                    <a:lnB w="66675" cap="flat" cmpd="sng" algn="ctr">
                      <a:solidFill>
                        <a:srgbClr val="FFFFFF"/>
                      </a:solidFill>
                      <a:prstDash val="solid"/>
                      <a:round/>
                      <a:headEnd type="none" w="med" len="med"/>
                      <a:tailEnd type="none" w="med" len="med"/>
                    </a:lnB>
                    <a:solidFill>
                      <a:srgbClr val="F6C6A0"/>
                    </a:solidFill>
                  </a:tcPr>
                </a:tc>
                <a:extLst>
                  <a:ext uri="{0D108BD9-81ED-4DB2-BD59-A6C34878D82A}">
                    <a16:rowId xmlns:a16="http://schemas.microsoft.com/office/drawing/2014/main" val="10006"/>
                  </a:ext>
                </a:extLst>
              </a:tr>
            </a:tbl>
          </a:graphicData>
        </a:graphic>
      </p:graphicFrame>
      <p:sp>
        <p:nvSpPr>
          <p:cNvPr id="80" name="Text 75"/>
          <p:cNvSpPr txBox="1"/>
          <p:nvPr/>
        </p:nvSpPr>
        <p:spPr>
          <a:xfrm>
            <a:off x="27978234" y="26704697"/>
            <a:ext cx="11457432" cy="901113"/>
          </a:xfrm>
          <a:prstGeom prst="rect">
            <a:avLst/>
          </a:prstGeom>
          <a:noFill/>
          <a:ln/>
        </p:spPr>
        <p:txBody>
          <a:bodyPr wrap="square" lIns="0" tIns="0" rIns="0" bIns="0" rtlCol="0" anchor="t"/>
          <a:lstStyle/>
          <a:p>
            <a:pPr marL="0" indent="0" algn="l">
              <a:lnSpc>
                <a:spcPts val="3540"/>
              </a:lnSpc>
              <a:buNone/>
            </a:pPr>
            <a:r>
              <a:rPr lang="en-US" sz="2630" dirty="0">
                <a:solidFill>
                  <a:srgbClr val="5E5E5E"/>
                </a:solidFill>
                <a:latin typeface="Barlow" pitchFamily="34" charset="0"/>
                <a:ea typeface="Barlow" pitchFamily="34" charset="-122"/>
                <a:cs typeface="Barlow" pitchFamily="34" charset="-120"/>
              </a:rPr>
              <a:t>** Holm-corrected p &lt; 0.05 (2023, 6 tests) · * uncorrected p &lt; 0.05 · blue = grazing lowers N · legume plots not sampled in 2020</a:t>
            </a:r>
            <a:endParaRPr lang="en-US" sz="2630" dirty="0"/>
          </a:p>
        </p:txBody>
      </p:sp>
      <p:sp>
        <p:nvSpPr>
          <p:cNvPr id="81" name="Text 76"/>
          <p:cNvSpPr txBox="1"/>
          <p:nvPr/>
        </p:nvSpPr>
        <p:spPr>
          <a:xfrm>
            <a:off x="27978234" y="28228010"/>
            <a:ext cx="13235940" cy="595694"/>
          </a:xfrm>
          <a:prstGeom prst="rect">
            <a:avLst/>
          </a:prstGeom>
          <a:noFill/>
          <a:ln/>
        </p:spPr>
        <p:txBody>
          <a:bodyPr wrap="none" lIns="0" tIns="0" rIns="0" bIns="0" rtlCol="0" anchor="t"/>
          <a:lstStyle/>
          <a:p>
            <a:pPr marL="0" indent="0" algn="l">
              <a:lnSpc>
                <a:spcPts val="4590"/>
              </a:lnSpc>
              <a:buNone/>
            </a:pPr>
            <a:r>
              <a:rPr lang="en-US" sz="3680" dirty="0">
                <a:solidFill>
                  <a:srgbClr val="242424"/>
                </a:solidFill>
                <a:latin typeface="Barlow SemiBold" pitchFamily="34" charset="0"/>
                <a:ea typeface="Barlow SemiBold" pitchFamily="34" charset="-122"/>
                <a:cs typeface="Barlow SemiBold" pitchFamily="34" charset="-120"/>
              </a:rPr>
              <a:t>And the model could not predict a held-out year</a:t>
            </a:r>
            <a:endParaRPr lang="en-US" sz="3680" dirty="0"/>
          </a:p>
        </p:txBody>
      </p:sp>
      <p:grpSp>
        <p:nvGrpSpPr>
          <p:cNvPr id="59" name="Group 58">
            <a:extLst>
              <a:ext uri="{FF2B5EF4-FFF2-40B4-BE49-F238E27FC236}">
                <a16:creationId xmlns:a16="http://schemas.microsoft.com/office/drawing/2014/main" id="{E04604FB-4BDA-1F84-2292-AB26AB675C5D}"/>
              </a:ext>
            </a:extLst>
          </p:cNvPr>
          <p:cNvGrpSpPr/>
          <p:nvPr/>
        </p:nvGrpSpPr>
        <p:grpSpPr>
          <a:xfrm>
            <a:off x="27793950" y="35363177"/>
            <a:ext cx="12142111" cy="1296115"/>
            <a:chOff x="27679126" y="35662342"/>
            <a:chExt cx="12142111" cy="1296115"/>
          </a:xfrm>
        </p:grpSpPr>
        <p:grpSp>
          <p:nvGrpSpPr>
            <p:cNvPr id="110" name="Group 109">
              <a:extLst>
                <a:ext uri="{FF2B5EF4-FFF2-40B4-BE49-F238E27FC236}">
                  <a16:creationId xmlns:a16="http://schemas.microsoft.com/office/drawing/2014/main" id="{B94E288F-714F-AF18-4EE4-523D6F3D5629}"/>
                </a:ext>
              </a:extLst>
            </p:cNvPr>
            <p:cNvGrpSpPr/>
            <p:nvPr/>
          </p:nvGrpSpPr>
          <p:grpSpPr>
            <a:xfrm>
              <a:off x="27679126" y="35682107"/>
              <a:ext cx="6303645" cy="1276350"/>
              <a:chOff x="27755850" y="30051970"/>
              <a:chExt cx="6303645" cy="1276350"/>
            </a:xfrm>
          </p:grpSpPr>
          <p:sp>
            <p:nvSpPr>
              <p:cNvPr id="84" name="Shape 79"/>
              <p:cNvSpPr/>
              <p:nvPr/>
            </p:nvSpPr>
            <p:spPr>
              <a:xfrm>
                <a:off x="27755850" y="30051970"/>
                <a:ext cx="5638800" cy="1276350"/>
              </a:xfrm>
              <a:prstGeom prst="roundRect">
                <a:avLst>
                  <a:gd name="adj" fmla="val 5970"/>
                </a:avLst>
              </a:prstGeom>
              <a:solidFill>
                <a:srgbClr val="F5F1E7"/>
              </a:solidFill>
              <a:ln/>
            </p:spPr>
            <p:txBody>
              <a:bodyPr/>
              <a:lstStyle/>
              <a:p>
                <a:endParaRPr lang="en-US"/>
              </a:p>
            </p:txBody>
          </p:sp>
          <p:sp>
            <p:nvSpPr>
              <p:cNvPr id="85" name="Text 80"/>
              <p:cNvSpPr txBox="1"/>
              <p:nvPr/>
            </p:nvSpPr>
            <p:spPr>
              <a:xfrm>
                <a:off x="27965400" y="30223420"/>
                <a:ext cx="6094095"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NH</a:t>
                </a:r>
                <a:r>
                  <a:rPr lang="en-US" sz="2630" baseline="-40000" dirty="0">
                    <a:solidFill>
                      <a:srgbClr val="5E5E5E"/>
                    </a:solidFill>
                    <a:latin typeface="Barlow" pitchFamily="34" charset="0"/>
                    <a:ea typeface="Barlow" pitchFamily="34" charset="-122"/>
                    <a:cs typeface="Barlow" pitchFamily="34" charset="-120"/>
                  </a:rPr>
                  <a:t>4</a:t>
                </a:r>
                <a:r>
                  <a:rPr lang="en-US" sz="2630" baseline="30000" dirty="0">
                    <a:solidFill>
                      <a:srgbClr val="5E5E5E"/>
                    </a:solidFill>
                    <a:latin typeface="Barlow" pitchFamily="34" charset="0"/>
                    <a:ea typeface="Barlow" pitchFamily="34" charset="-122"/>
                    <a:cs typeface="Barlow" pitchFamily="34" charset="-120"/>
                  </a:rPr>
                  <a:t>+</a:t>
                </a:r>
                <a:r>
                  <a:rPr lang="en-US" sz="2630" dirty="0">
                    <a:solidFill>
                      <a:srgbClr val="5E5E5E"/>
                    </a:solidFill>
                    <a:latin typeface="Barlow" pitchFamily="34" charset="0"/>
                    <a:ea typeface="Barlow" pitchFamily="34" charset="-122"/>
                    <a:cs typeface="Barlow" pitchFamily="34" charset="-120"/>
                  </a:rPr>
                  <a:t> · 2023 holdout</a:t>
                </a:r>
                <a:endParaRPr lang="en-US" sz="2630" dirty="0"/>
              </a:p>
            </p:txBody>
          </p:sp>
          <p:sp>
            <p:nvSpPr>
              <p:cNvPr id="86" name="Text 81"/>
              <p:cNvSpPr txBox="1"/>
              <p:nvPr/>
            </p:nvSpPr>
            <p:spPr>
              <a:xfrm>
                <a:off x="27965400" y="30632995"/>
                <a:ext cx="6094095" cy="555308"/>
              </a:xfrm>
              <a:prstGeom prst="rect">
                <a:avLst/>
              </a:prstGeom>
              <a:noFill/>
              <a:ln/>
            </p:spPr>
            <p:txBody>
              <a:bodyPr wrap="none" lIns="0" tIns="0" rIns="0" bIns="0" rtlCol="0" anchor="t"/>
              <a:lstStyle/>
              <a:p>
                <a:pPr marL="0" indent="0" algn="l">
                  <a:lnSpc>
                    <a:spcPts val="4140"/>
                  </a:lnSpc>
                  <a:buNone/>
                </a:pPr>
                <a:r>
                  <a:rPr lang="en-US" sz="3450" b="1" dirty="0">
                    <a:solidFill>
                      <a:srgbClr val="242424"/>
                    </a:solidFill>
                    <a:latin typeface="Barlow" pitchFamily="34" charset="0"/>
                    <a:ea typeface="Barlow" pitchFamily="34" charset="-122"/>
                    <a:cs typeface="Barlow" pitchFamily="34" charset="-120"/>
                  </a:rPr>
                  <a:t>R</a:t>
                </a:r>
                <a:r>
                  <a:rPr lang="en-US" sz="3450" b="1" baseline="30000" dirty="0">
                    <a:solidFill>
                      <a:srgbClr val="242424"/>
                    </a:solidFill>
                    <a:latin typeface="Barlow" pitchFamily="34" charset="0"/>
                    <a:ea typeface="Barlow" pitchFamily="34" charset="-122"/>
                    <a:cs typeface="Barlow" pitchFamily="34" charset="-120"/>
                  </a:rPr>
                  <a:t>2</a:t>
                </a:r>
                <a:r>
                  <a:rPr lang="en-US" sz="3450" b="1" dirty="0">
                    <a:solidFill>
                      <a:srgbClr val="242424"/>
                    </a:solidFill>
                    <a:latin typeface="Barlow" pitchFamily="34" charset="0"/>
                    <a:ea typeface="Barlow" pitchFamily="34" charset="-122"/>
                    <a:cs typeface="Barlow" pitchFamily="34" charset="-120"/>
                  </a:rPr>
                  <a:t> −3.26 · 53 mg kg</a:t>
                </a:r>
                <a:r>
                  <a:rPr lang="en-US" sz="3450" b="1" baseline="30000" dirty="0">
                    <a:solidFill>
                      <a:srgbClr val="242424"/>
                    </a:solidFill>
                    <a:latin typeface="Barlow" pitchFamily="34" charset="0"/>
                    <a:ea typeface="Barlow" pitchFamily="34" charset="-122"/>
                    <a:cs typeface="Barlow" pitchFamily="34" charset="-120"/>
                  </a:rPr>
                  <a:t>−1</a:t>
                </a:r>
                <a:r>
                  <a:rPr lang="en-US" sz="3450" b="1" dirty="0">
                    <a:solidFill>
                      <a:srgbClr val="242424"/>
                    </a:solidFill>
                    <a:latin typeface="Barlow" pitchFamily="34" charset="0"/>
                    <a:ea typeface="Barlow" pitchFamily="34" charset="-122"/>
                    <a:cs typeface="Barlow" pitchFamily="34" charset="-120"/>
                  </a:rPr>
                  <a:t> wide</a:t>
                </a:r>
                <a:endParaRPr lang="en-US" sz="3450" dirty="0"/>
              </a:p>
            </p:txBody>
          </p:sp>
        </p:grpSp>
        <p:grpSp>
          <p:nvGrpSpPr>
            <p:cNvPr id="111" name="Group 110">
              <a:extLst>
                <a:ext uri="{FF2B5EF4-FFF2-40B4-BE49-F238E27FC236}">
                  <a16:creationId xmlns:a16="http://schemas.microsoft.com/office/drawing/2014/main" id="{640A6C61-487E-E94A-FB83-CF8DB4E9B894}"/>
                </a:ext>
              </a:extLst>
            </p:cNvPr>
            <p:cNvGrpSpPr/>
            <p:nvPr/>
          </p:nvGrpSpPr>
          <p:grpSpPr>
            <a:xfrm>
              <a:off x="33517592" y="35662342"/>
              <a:ext cx="6303645" cy="1276350"/>
              <a:chOff x="33547050" y="30051970"/>
              <a:chExt cx="6303645" cy="1276350"/>
            </a:xfrm>
          </p:grpSpPr>
          <p:sp>
            <p:nvSpPr>
              <p:cNvPr id="87" name="Shape 82"/>
              <p:cNvSpPr/>
              <p:nvPr/>
            </p:nvSpPr>
            <p:spPr>
              <a:xfrm>
                <a:off x="33547050" y="30051970"/>
                <a:ext cx="5638800" cy="1276350"/>
              </a:xfrm>
              <a:prstGeom prst="roundRect">
                <a:avLst>
                  <a:gd name="adj" fmla="val 5970"/>
                </a:avLst>
              </a:prstGeom>
              <a:solidFill>
                <a:srgbClr val="F5F1E7"/>
              </a:solidFill>
              <a:ln/>
            </p:spPr>
            <p:txBody>
              <a:bodyPr/>
              <a:lstStyle/>
              <a:p>
                <a:endParaRPr lang="en-US" dirty="0"/>
              </a:p>
            </p:txBody>
          </p:sp>
          <p:sp>
            <p:nvSpPr>
              <p:cNvPr id="88" name="Text 83"/>
              <p:cNvSpPr txBox="1"/>
              <p:nvPr/>
            </p:nvSpPr>
            <p:spPr>
              <a:xfrm>
                <a:off x="33756600" y="30223420"/>
                <a:ext cx="6094095" cy="424053"/>
              </a:xfrm>
              <a:prstGeom prst="rect">
                <a:avLst/>
              </a:prstGeom>
              <a:noFill/>
              <a:ln/>
            </p:spPr>
            <p:txBody>
              <a:bodyPr wrap="none" lIns="0" tIns="0" rIns="0" bIns="0" rtlCol="0" anchor="t"/>
              <a:lstStyle/>
              <a:p>
                <a:pPr marL="0" indent="0" algn="l">
                  <a:lnSpc>
                    <a:spcPts val="3150"/>
                  </a:lnSpc>
                  <a:buNone/>
                </a:pPr>
                <a:r>
                  <a:rPr lang="en-US" sz="2630" dirty="0">
                    <a:solidFill>
                      <a:srgbClr val="5E5E5E"/>
                    </a:solidFill>
                    <a:latin typeface="Barlow" pitchFamily="34" charset="0"/>
                    <a:ea typeface="Barlow" pitchFamily="34" charset="-122"/>
                    <a:cs typeface="Barlow" pitchFamily="34" charset="-120"/>
                  </a:rPr>
                  <a:t>NO</a:t>
                </a:r>
                <a:r>
                  <a:rPr lang="en-US" sz="2630" baseline="-40000" dirty="0">
                    <a:solidFill>
                      <a:srgbClr val="5E5E5E"/>
                    </a:solidFill>
                    <a:latin typeface="Barlow" pitchFamily="34" charset="0"/>
                    <a:ea typeface="Barlow" pitchFamily="34" charset="-122"/>
                    <a:cs typeface="Barlow" pitchFamily="34" charset="-120"/>
                  </a:rPr>
                  <a:t>3</a:t>
                </a:r>
                <a:r>
                  <a:rPr lang="en-US" sz="2630" baseline="30000" dirty="0">
                    <a:solidFill>
                      <a:srgbClr val="5E5E5E"/>
                    </a:solidFill>
                    <a:latin typeface="Barlow" pitchFamily="34" charset="0"/>
                    <a:ea typeface="Barlow" pitchFamily="34" charset="-122"/>
                    <a:cs typeface="Barlow" pitchFamily="34" charset="-120"/>
                  </a:rPr>
                  <a:t>−</a:t>
                </a:r>
                <a:r>
                  <a:rPr lang="en-US" sz="2630" dirty="0">
                    <a:solidFill>
                      <a:srgbClr val="5E5E5E"/>
                    </a:solidFill>
                    <a:latin typeface="Barlow" pitchFamily="34" charset="0"/>
                    <a:ea typeface="Barlow" pitchFamily="34" charset="-122"/>
                    <a:cs typeface="Barlow" pitchFamily="34" charset="-120"/>
                  </a:rPr>
                  <a:t> · 2023 holdout</a:t>
                </a:r>
                <a:endParaRPr lang="en-US" sz="2630" dirty="0"/>
              </a:p>
            </p:txBody>
          </p:sp>
          <p:sp>
            <p:nvSpPr>
              <p:cNvPr id="89" name="Text 84"/>
              <p:cNvSpPr txBox="1"/>
              <p:nvPr/>
            </p:nvSpPr>
            <p:spPr>
              <a:xfrm>
                <a:off x="33756600" y="30632995"/>
                <a:ext cx="6094095" cy="555308"/>
              </a:xfrm>
              <a:prstGeom prst="rect">
                <a:avLst/>
              </a:prstGeom>
              <a:noFill/>
              <a:ln/>
            </p:spPr>
            <p:txBody>
              <a:bodyPr wrap="none" lIns="0" tIns="0" rIns="0" bIns="0" rtlCol="0" anchor="t"/>
              <a:lstStyle/>
              <a:p>
                <a:pPr marL="0" indent="0" algn="l">
                  <a:lnSpc>
                    <a:spcPts val="4140"/>
                  </a:lnSpc>
                  <a:buNone/>
                </a:pPr>
                <a:r>
                  <a:rPr lang="en-US" sz="3450" b="1" dirty="0">
                    <a:solidFill>
                      <a:srgbClr val="242424"/>
                    </a:solidFill>
                    <a:latin typeface="Barlow" pitchFamily="34" charset="0"/>
                    <a:ea typeface="Barlow" pitchFamily="34" charset="-122"/>
                    <a:cs typeface="Barlow" pitchFamily="34" charset="-120"/>
                  </a:rPr>
                  <a:t>R</a:t>
                </a:r>
                <a:r>
                  <a:rPr lang="en-US" sz="3450" b="1" baseline="30000" dirty="0">
                    <a:solidFill>
                      <a:srgbClr val="242424"/>
                    </a:solidFill>
                    <a:latin typeface="Barlow" pitchFamily="34" charset="0"/>
                    <a:ea typeface="Barlow" pitchFamily="34" charset="-122"/>
                    <a:cs typeface="Barlow" pitchFamily="34" charset="-120"/>
                  </a:rPr>
                  <a:t>2</a:t>
                </a:r>
                <a:r>
                  <a:rPr lang="en-US" sz="3450" b="1" dirty="0">
                    <a:solidFill>
                      <a:srgbClr val="242424"/>
                    </a:solidFill>
                    <a:latin typeface="Barlow" pitchFamily="34" charset="0"/>
                    <a:ea typeface="Barlow" pitchFamily="34" charset="-122"/>
                    <a:cs typeface="Barlow" pitchFamily="34" charset="-120"/>
                  </a:rPr>
                  <a:t> −1.83 · 88 mg kg</a:t>
                </a:r>
                <a:r>
                  <a:rPr lang="en-US" sz="3450" b="1" baseline="30000" dirty="0">
                    <a:solidFill>
                      <a:srgbClr val="242424"/>
                    </a:solidFill>
                    <a:latin typeface="Barlow" pitchFamily="34" charset="0"/>
                    <a:ea typeface="Barlow" pitchFamily="34" charset="-122"/>
                    <a:cs typeface="Barlow" pitchFamily="34" charset="-120"/>
                  </a:rPr>
                  <a:t>−1</a:t>
                </a:r>
                <a:r>
                  <a:rPr lang="en-US" sz="3450" b="1" dirty="0">
                    <a:solidFill>
                      <a:srgbClr val="242424"/>
                    </a:solidFill>
                    <a:latin typeface="Barlow" pitchFamily="34" charset="0"/>
                    <a:ea typeface="Barlow" pitchFamily="34" charset="-122"/>
                    <a:cs typeface="Barlow" pitchFamily="34" charset="-120"/>
                  </a:rPr>
                  <a:t> wide</a:t>
                </a:r>
                <a:endParaRPr lang="en-US" sz="3450" dirty="0"/>
              </a:p>
            </p:txBody>
          </p:sp>
        </p:grpSp>
      </p:grpSp>
      <p:cxnSp>
        <p:nvCxnSpPr>
          <p:cNvPr id="95" name="Straight Connector 94">
            <a:extLst>
              <a:ext uri="{FF2B5EF4-FFF2-40B4-BE49-F238E27FC236}">
                <a16:creationId xmlns:a16="http://schemas.microsoft.com/office/drawing/2014/main" id="{65D2C0E4-0586-8008-1931-72638BEB9198}"/>
              </a:ext>
            </a:extLst>
          </p:cNvPr>
          <p:cNvCxnSpPr>
            <a:cxnSpLocks/>
          </p:cNvCxnSpPr>
          <p:nvPr/>
        </p:nvCxnSpPr>
        <p:spPr>
          <a:xfrm flipV="1">
            <a:off x="13716" y="6302562"/>
            <a:ext cx="40233600" cy="32975"/>
          </a:xfrm>
          <a:prstGeom prst="line">
            <a:avLst/>
          </a:prstGeom>
          <a:ln>
            <a:solidFill>
              <a:srgbClr val="B30000"/>
            </a:solidFill>
          </a:ln>
        </p:spPr>
        <p:style>
          <a:lnRef idx="3">
            <a:schemeClr val="dk1"/>
          </a:lnRef>
          <a:fillRef idx="0">
            <a:schemeClr val="dk1"/>
          </a:fillRef>
          <a:effectRef idx="2">
            <a:schemeClr val="dk1"/>
          </a:effectRef>
          <a:fontRef idx="minor">
            <a:schemeClr val="tx1"/>
          </a:fontRef>
        </p:style>
      </p:cxnSp>
      <p:pic>
        <p:nvPicPr>
          <p:cNvPr id="106" name="Picture 105">
            <a:extLst>
              <a:ext uri="{FF2B5EF4-FFF2-40B4-BE49-F238E27FC236}">
                <a16:creationId xmlns:a16="http://schemas.microsoft.com/office/drawing/2014/main" id="{9F653E23-736B-BD38-B79E-B26A449564D5}"/>
              </a:ext>
            </a:extLst>
          </p:cNvPr>
          <p:cNvPicPr>
            <a:picLocks noChangeAspect="1"/>
          </p:cNvPicPr>
          <p:nvPr/>
        </p:nvPicPr>
        <p:blipFill>
          <a:blip r:embed="rId3"/>
          <a:stretch>
            <a:fillRect/>
          </a:stretch>
        </p:blipFill>
        <p:spPr>
          <a:xfrm>
            <a:off x="-140921" y="1363175"/>
            <a:ext cx="8284796" cy="3918018"/>
          </a:xfrm>
          <a:prstGeom prst="rect">
            <a:avLst/>
          </a:prstGeom>
        </p:spPr>
      </p:pic>
      <p:sp>
        <p:nvSpPr>
          <p:cNvPr id="113" name="Text 70">
            <a:extLst>
              <a:ext uri="{FF2B5EF4-FFF2-40B4-BE49-F238E27FC236}">
                <a16:creationId xmlns:a16="http://schemas.microsoft.com/office/drawing/2014/main" id="{E1F1D75F-80A4-7DF9-E3EB-F26E5AF39144}"/>
              </a:ext>
            </a:extLst>
          </p:cNvPr>
          <p:cNvSpPr txBox="1"/>
          <p:nvPr/>
        </p:nvSpPr>
        <p:spPr>
          <a:xfrm>
            <a:off x="27793950" y="7883189"/>
            <a:ext cx="13235940" cy="595694"/>
          </a:xfrm>
          <a:prstGeom prst="rect">
            <a:avLst/>
          </a:prstGeom>
          <a:noFill/>
          <a:ln/>
        </p:spPr>
        <p:txBody>
          <a:bodyPr wrap="none" lIns="0" tIns="0" rIns="0" bIns="0" rtlCol="0" anchor="t"/>
          <a:lstStyle/>
          <a:p>
            <a:pPr marL="0" indent="0" algn="l">
              <a:lnSpc>
                <a:spcPts val="4590"/>
              </a:lnSpc>
              <a:buNone/>
            </a:pPr>
            <a:r>
              <a:rPr lang="en-US" sz="3680" dirty="0">
                <a:solidFill>
                  <a:srgbClr val="242424"/>
                </a:solidFill>
                <a:latin typeface="Barlow SemiBold" pitchFamily="34" charset="0"/>
                <a:ea typeface="Barlow SemiBold" pitchFamily="34" charset="-122"/>
                <a:cs typeface="Barlow SemiBold" pitchFamily="34" charset="-120"/>
              </a:rPr>
              <a:t>Year and water balance rank highest; grazing ranks last</a:t>
            </a:r>
            <a:endParaRPr lang="en-US" sz="3680" dirty="0"/>
          </a:p>
        </p:txBody>
      </p:sp>
      <p:sp>
        <p:nvSpPr>
          <p:cNvPr id="115" name="Text 71">
            <a:extLst>
              <a:ext uri="{FF2B5EF4-FFF2-40B4-BE49-F238E27FC236}">
                <a16:creationId xmlns:a16="http://schemas.microsoft.com/office/drawing/2014/main" id="{97C3808E-7D76-61AA-773A-AA4DA55AFFDF}"/>
              </a:ext>
            </a:extLst>
          </p:cNvPr>
          <p:cNvSpPr txBox="1"/>
          <p:nvPr/>
        </p:nvSpPr>
        <p:spPr>
          <a:xfrm>
            <a:off x="27793950" y="8484629"/>
            <a:ext cx="11457432" cy="924776"/>
          </a:xfrm>
          <a:prstGeom prst="rect">
            <a:avLst/>
          </a:prstGeom>
          <a:noFill/>
          <a:ln/>
        </p:spPr>
        <p:txBody>
          <a:bodyPr wrap="square" lIns="0" tIns="0" rIns="0" bIns="0" rtlCol="0" anchor="t"/>
          <a:lstStyle/>
          <a:p>
            <a:pPr marL="0" indent="0" algn="l">
              <a:lnSpc>
                <a:spcPts val="3650"/>
              </a:lnSpc>
              <a:buNone/>
            </a:pPr>
            <a:r>
              <a:rPr lang="en-US" sz="2700" dirty="0">
                <a:solidFill>
                  <a:srgbClr val="5E5E5E"/>
                </a:solidFill>
                <a:latin typeface="Barlow" pitchFamily="34" charset="0"/>
                <a:ea typeface="Barlow" pitchFamily="34" charset="-122"/>
                <a:cs typeface="Barlow" pitchFamily="34" charset="-120"/>
              </a:rPr>
              <a:t>RF and ARD are shares of total relevance · Perm is change in held-out MSE, where negative means shuffling improved prediction</a:t>
            </a:r>
            <a:endParaRPr lang="en-US" sz="2700" dirty="0"/>
          </a:p>
        </p:txBody>
      </p:sp>
      <p:pic>
        <p:nvPicPr>
          <p:cNvPr id="75" name="Graphic 74">
            <a:extLst>
              <a:ext uri="{FF2B5EF4-FFF2-40B4-BE49-F238E27FC236}">
                <a16:creationId xmlns:a16="http://schemas.microsoft.com/office/drawing/2014/main" id="{24E6F916-6B60-C9AC-EE7D-F14BB5ACBB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368437" y="37512633"/>
            <a:ext cx="2103120" cy="2103120"/>
          </a:xfrm>
          <a:prstGeom prst="rect">
            <a:avLst/>
          </a:prstGeom>
        </p:spPr>
      </p:pic>
      <p:graphicFrame>
        <p:nvGraphicFramePr>
          <p:cNvPr id="116" name="Table 115"/>
          <p:cNvGraphicFramePr>
            <a:graphicFrameLocks noGrp="1"/>
          </p:cNvGraphicFramePr>
          <p:nvPr>
            <p:extLst>
              <p:ext uri="{D42A27DB-BD31-4B8C-83A1-F6EECF244321}">
                <p14:modId xmlns:p14="http://schemas.microsoft.com/office/powerpoint/2010/main" val="1912649799"/>
              </p:ext>
            </p:extLst>
          </p:nvPr>
        </p:nvGraphicFramePr>
        <p:xfrm>
          <a:off x="27931491" y="9592884"/>
          <a:ext cx="11106150" cy="7790438"/>
        </p:xfrm>
        <a:graphic>
          <a:graphicData uri="http://schemas.openxmlformats.org/drawingml/2006/table">
            <a:tbl>
              <a:tblPr>
                <a:tableStyleId>{2D5ABB26-0587-4C30-8999-92F81FD0307C}</a:tableStyleId>
              </a:tblPr>
              <a:tblGrid>
                <a:gridCol w="2969322">
                  <a:extLst>
                    <a:ext uri="{9D8B030D-6E8A-4147-A177-3AD203B41FA5}">
                      <a16:colId xmlns:a16="http://schemas.microsoft.com/office/drawing/2014/main" val="20000"/>
                    </a:ext>
                  </a:extLst>
                </a:gridCol>
                <a:gridCol w="1356138">
                  <a:extLst>
                    <a:ext uri="{9D8B030D-6E8A-4147-A177-3AD203B41FA5}">
                      <a16:colId xmlns:a16="http://schemas.microsoft.com/office/drawing/2014/main" val="20001"/>
                    </a:ext>
                  </a:extLst>
                </a:gridCol>
                <a:gridCol w="1356138">
                  <a:extLst>
                    <a:ext uri="{9D8B030D-6E8A-4147-A177-3AD203B41FA5}">
                      <a16:colId xmlns:a16="http://schemas.microsoft.com/office/drawing/2014/main" val="20002"/>
                    </a:ext>
                  </a:extLst>
                </a:gridCol>
                <a:gridCol w="1356138">
                  <a:extLst>
                    <a:ext uri="{9D8B030D-6E8A-4147-A177-3AD203B41FA5}">
                      <a16:colId xmlns:a16="http://schemas.microsoft.com/office/drawing/2014/main" val="20003"/>
                    </a:ext>
                  </a:extLst>
                </a:gridCol>
                <a:gridCol w="1356138">
                  <a:extLst>
                    <a:ext uri="{9D8B030D-6E8A-4147-A177-3AD203B41FA5}">
                      <a16:colId xmlns:a16="http://schemas.microsoft.com/office/drawing/2014/main" val="20004"/>
                    </a:ext>
                  </a:extLst>
                </a:gridCol>
                <a:gridCol w="1356138">
                  <a:extLst>
                    <a:ext uri="{9D8B030D-6E8A-4147-A177-3AD203B41FA5}">
                      <a16:colId xmlns:a16="http://schemas.microsoft.com/office/drawing/2014/main" val="20005"/>
                    </a:ext>
                  </a:extLst>
                </a:gridCol>
                <a:gridCol w="1356138">
                  <a:extLst>
                    <a:ext uri="{9D8B030D-6E8A-4147-A177-3AD203B41FA5}">
                      <a16:colId xmlns:a16="http://schemas.microsoft.com/office/drawing/2014/main" val="20006"/>
                    </a:ext>
                  </a:extLst>
                </a:gridCol>
              </a:tblGrid>
              <a:tr h="920815">
                <a:tc>
                  <a:txBody>
                    <a:bodyPr/>
                    <a:lstStyle/>
                    <a:p>
                      <a:pPr algn="l"/>
                      <a:endParaRPr dirty="0"/>
                    </a:p>
                  </a:txBody>
                  <a:tcPr marL="0" marR="73152" marT="9144" marB="9144" anchor="ctr">
                    <a:noFill/>
                  </a:tcPr>
                </a:tc>
                <a:tc>
                  <a:txBody>
                    <a:bodyPr/>
                    <a:lstStyle/>
                    <a:p>
                      <a:pPr algn="ctr"/>
                      <a:r>
                        <a:rPr sz="3080" b="0">
                          <a:solidFill>
                            <a:srgbClr val="5E5E5E"/>
                          </a:solidFill>
                          <a:latin typeface="Barlow SemiBold"/>
                        </a:rPr>
                        <a:t>NH</a:t>
                      </a:r>
                      <a:r>
                        <a:rPr sz="3080" b="0" baseline="-25000">
                          <a:solidFill>
                            <a:srgbClr val="5E5E5E"/>
                          </a:solidFill>
                          <a:latin typeface="Barlow SemiBold"/>
                        </a:rPr>
                        <a:t>4</a:t>
                      </a:r>
                      <a:r>
                        <a:rPr sz="3080" b="0" baseline="30000">
                          <a:solidFill>
                            <a:srgbClr val="5E5E5E"/>
                          </a:solidFill>
                          <a:latin typeface="Barlow SemiBold"/>
                        </a:rPr>
                        <a:t>+</a:t>
                      </a:r>
                      <a:r>
                        <a:rPr sz="3080" b="0">
                          <a:solidFill>
                            <a:srgbClr val="5E5E5E"/>
                          </a:solidFill>
                          <a:latin typeface="Barlow SemiBold"/>
                        </a:rPr>
                        <a:t> · RF</a:t>
                      </a:r>
                    </a:p>
                  </a:txBody>
                  <a:tcPr marL="54864" marR="54864" marT="9144" marB="9144" anchor="ctr">
                    <a:noFill/>
                  </a:tcPr>
                </a:tc>
                <a:tc>
                  <a:txBody>
                    <a:bodyPr/>
                    <a:lstStyle/>
                    <a:p>
                      <a:pPr algn="ctr"/>
                      <a:r>
                        <a:rPr sz="3080" b="0">
                          <a:solidFill>
                            <a:srgbClr val="5E5E5E"/>
                          </a:solidFill>
                          <a:latin typeface="Barlow SemiBold"/>
                        </a:rPr>
                        <a:t>NH</a:t>
                      </a:r>
                      <a:r>
                        <a:rPr sz="3080" b="0" baseline="-25000">
                          <a:solidFill>
                            <a:srgbClr val="5E5E5E"/>
                          </a:solidFill>
                          <a:latin typeface="Barlow SemiBold"/>
                        </a:rPr>
                        <a:t>4</a:t>
                      </a:r>
                      <a:r>
                        <a:rPr sz="3080" b="0" baseline="30000">
                          <a:solidFill>
                            <a:srgbClr val="5E5E5E"/>
                          </a:solidFill>
                          <a:latin typeface="Barlow SemiBold"/>
                        </a:rPr>
                        <a:t>+</a:t>
                      </a:r>
                      <a:r>
                        <a:rPr sz="3080" b="0">
                          <a:solidFill>
                            <a:srgbClr val="5E5E5E"/>
                          </a:solidFill>
                          <a:latin typeface="Barlow SemiBold"/>
                        </a:rPr>
                        <a:t> · Perm</a:t>
                      </a:r>
                    </a:p>
                  </a:txBody>
                  <a:tcPr marL="54864" marR="54864" marT="9144" marB="9144" anchor="ctr">
                    <a:noFill/>
                  </a:tcPr>
                </a:tc>
                <a:tc>
                  <a:txBody>
                    <a:bodyPr/>
                    <a:lstStyle/>
                    <a:p>
                      <a:pPr algn="ctr"/>
                      <a:r>
                        <a:rPr sz="3080" b="0" dirty="0">
                          <a:solidFill>
                            <a:srgbClr val="5E5E5E"/>
                          </a:solidFill>
                          <a:latin typeface="Barlow SemiBold"/>
                        </a:rPr>
                        <a:t>NH</a:t>
                      </a:r>
                      <a:r>
                        <a:rPr sz="3080" b="0" baseline="-25000" dirty="0">
                          <a:solidFill>
                            <a:srgbClr val="5E5E5E"/>
                          </a:solidFill>
                          <a:latin typeface="Barlow SemiBold"/>
                        </a:rPr>
                        <a:t>4</a:t>
                      </a:r>
                      <a:r>
                        <a:rPr sz="3080" b="0" baseline="30000" dirty="0">
                          <a:solidFill>
                            <a:srgbClr val="5E5E5E"/>
                          </a:solidFill>
                          <a:latin typeface="Barlow SemiBold"/>
                        </a:rPr>
                        <a:t>+</a:t>
                      </a:r>
                      <a:r>
                        <a:rPr sz="3080" b="0" dirty="0">
                          <a:solidFill>
                            <a:srgbClr val="5E5E5E"/>
                          </a:solidFill>
                          <a:latin typeface="Barlow SemiBold"/>
                        </a:rPr>
                        <a:t> · </a:t>
                      </a:r>
                      <a:r>
                        <a:rPr lang="en-US" sz="3080" b="0" dirty="0">
                          <a:solidFill>
                            <a:srgbClr val="5E5E5E"/>
                          </a:solidFill>
                          <a:latin typeface="Barlow SemiBold"/>
                        </a:rPr>
                        <a:t>ARD</a:t>
                      </a:r>
                      <a:endParaRPr sz="3080" b="0" dirty="0">
                        <a:solidFill>
                          <a:srgbClr val="5E5E5E"/>
                        </a:solidFill>
                        <a:latin typeface="Barlow SemiBold"/>
                      </a:endParaRPr>
                    </a:p>
                  </a:txBody>
                  <a:tcPr marL="54864" marR="54864" marT="9144" marB="9144" anchor="ctr">
                    <a:noFill/>
                  </a:tcPr>
                </a:tc>
                <a:tc>
                  <a:txBody>
                    <a:bodyPr/>
                    <a:lstStyle/>
                    <a:p>
                      <a:pPr algn="ctr"/>
                      <a:r>
                        <a:rPr sz="3080" b="0">
                          <a:solidFill>
                            <a:srgbClr val="5E5E5E"/>
                          </a:solidFill>
                          <a:latin typeface="Barlow SemiBold"/>
                        </a:rPr>
                        <a:t>NO</a:t>
                      </a:r>
                      <a:r>
                        <a:rPr sz="3080" b="0" baseline="-25000">
                          <a:solidFill>
                            <a:srgbClr val="5E5E5E"/>
                          </a:solidFill>
                          <a:latin typeface="Barlow SemiBold"/>
                        </a:rPr>
                        <a:t>3</a:t>
                      </a:r>
                      <a:r>
                        <a:rPr sz="3080" b="0" baseline="30000">
                          <a:solidFill>
                            <a:srgbClr val="5E5E5E"/>
                          </a:solidFill>
                          <a:latin typeface="Barlow SemiBold"/>
                        </a:rPr>
                        <a:t>−</a:t>
                      </a:r>
                      <a:r>
                        <a:rPr sz="3080" b="0">
                          <a:solidFill>
                            <a:srgbClr val="5E5E5E"/>
                          </a:solidFill>
                          <a:latin typeface="Barlow SemiBold"/>
                        </a:rPr>
                        <a:t> · RF</a:t>
                      </a:r>
                    </a:p>
                  </a:txBody>
                  <a:tcPr marL="54864" marR="54864" marT="9144" marB="9144" anchor="ctr">
                    <a:noFill/>
                  </a:tcPr>
                </a:tc>
                <a:tc>
                  <a:txBody>
                    <a:bodyPr/>
                    <a:lstStyle/>
                    <a:p>
                      <a:pPr algn="ctr"/>
                      <a:r>
                        <a:rPr sz="3080" b="0">
                          <a:solidFill>
                            <a:srgbClr val="5E5E5E"/>
                          </a:solidFill>
                          <a:latin typeface="Barlow SemiBold"/>
                        </a:rPr>
                        <a:t>NO</a:t>
                      </a:r>
                      <a:r>
                        <a:rPr sz="3080" b="0" baseline="-25000">
                          <a:solidFill>
                            <a:srgbClr val="5E5E5E"/>
                          </a:solidFill>
                          <a:latin typeface="Barlow SemiBold"/>
                        </a:rPr>
                        <a:t>3</a:t>
                      </a:r>
                      <a:r>
                        <a:rPr sz="3080" b="0" baseline="30000">
                          <a:solidFill>
                            <a:srgbClr val="5E5E5E"/>
                          </a:solidFill>
                          <a:latin typeface="Barlow SemiBold"/>
                        </a:rPr>
                        <a:t>−</a:t>
                      </a:r>
                      <a:r>
                        <a:rPr sz="3080" b="0">
                          <a:solidFill>
                            <a:srgbClr val="5E5E5E"/>
                          </a:solidFill>
                          <a:latin typeface="Barlow SemiBold"/>
                        </a:rPr>
                        <a:t> · Perm</a:t>
                      </a:r>
                    </a:p>
                  </a:txBody>
                  <a:tcPr marL="54864" marR="54864" marT="9144" marB="9144" anchor="ctr">
                    <a:noFill/>
                  </a:tcPr>
                </a:tc>
                <a:tc>
                  <a:txBody>
                    <a:bodyPr/>
                    <a:lstStyle/>
                    <a:p>
                      <a:pPr algn="ctr"/>
                      <a:r>
                        <a:rPr sz="3080" b="0" dirty="0">
                          <a:solidFill>
                            <a:srgbClr val="5E5E5E"/>
                          </a:solidFill>
                          <a:latin typeface="Barlow SemiBold"/>
                        </a:rPr>
                        <a:t>NO</a:t>
                      </a:r>
                      <a:r>
                        <a:rPr sz="3080" b="0" baseline="-25000" dirty="0">
                          <a:solidFill>
                            <a:srgbClr val="5E5E5E"/>
                          </a:solidFill>
                          <a:latin typeface="Barlow SemiBold"/>
                        </a:rPr>
                        <a:t>3</a:t>
                      </a:r>
                      <a:r>
                        <a:rPr sz="3080" b="0" baseline="30000" dirty="0">
                          <a:solidFill>
                            <a:srgbClr val="5E5E5E"/>
                          </a:solidFill>
                          <a:latin typeface="Barlow SemiBold"/>
                        </a:rPr>
                        <a:t>−</a:t>
                      </a:r>
                      <a:r>
                        <a:rPr sz="3080" b="0" dirty="0">
                          <a:solidFill>
                            <a:srgbClr val="5E5E5E"/>
                          </a:solidFill>
                          <a:latin typeface="Barlow SemiBold"/>
                        </a:rPr>
                        <a:t> · </a:t>
                      </a:r>
                      <a:r>
                        <a:rPr lang="en-US" sz="3080" b="0" dirty="0">
                          <a:solidFill>
                            <a:srgbClr val="5E5E5E"/>
                          </a:solidFill>
                          <a:latin typeface="Barlow SemiBold"/>
                        </a:rPr>
                        <a:t>ARD</a:t>
                      </a:r>
                      <a:endParaRPr sz="3080" b="0" dirty="0">
                        <a:solidFill>
                          <a:srgbClr val="5E5E5E"/>
                        </a:solidFill>
                        <a:latin typeface="Barlow SemiBold"/>
                      </a:endParaRPr>
                    </a:p>
                  </a:txBody>
                  <a:tcPr marL="54864" marR="54864" marT="9144" marB="9144" anchor="ctr">
                    <a:noFill/>
                  </a:tcPr>
                </a:tc>
                <a:extLst>
                  <a:ext uri="{0D108BD9-81ED-4DB2-BD59-A6C34878D82A}">
                    <a16:rowId xmlns:a16="http://schemas.microsoft.com/office/drawing/2014/main" val="10000"/>
                  </a:ext>
                </a:extLst>
              </a:tr>
              <a:tr h="988108">
                <a:tc>
                  <a:txBody>
                    <a:bodyPr/>
                    <a:lstStyle/>
                    <a:p>
                      <a:pPr algn="l"/>
                      <a:r>
                        <a:rPr sz="3300" b="0" dirty="0">
                          <a:solidFill>
                            <a:srgbClr val="242424"/>
                          </a:solidFill>
                          <a:latin typeface="Barlow"/>
                        </a:rPr>
                        <a:t>Water balance</a:t>
                      </a:r>
                    </a:p>
                  </a:txBody>
                  <a:tcPr marL="0" marR="73152" marT="9144" marB="9144" anchor="ctr">
                    <a:noFill/>
                  </a:tcPr>
                </a:tc>
                <a:tc>
                  <a:txBody>
                    <a:bodyPr/>
                    <a:lstStyle/>
                    <a:p>
                      <a:pPr algn="ctr"/>
                      <a:r>
                        <a:rPr sz="3300" b="0">
                          <a:solidFill>
                            <a:srgbClr val="FFFFFF"/>
                          </a:solidFill>
                          <a:latin typeface="Barlow"/>
                        </a:rPr>
                        <a:t>0.159</a:t>
                      </a:r>
                    </a:p>
                  </a:txBody>
                  <a:tcPr marL="54864" marR="54864" marT="9144" marB="9144" anchor="ctr">
                    <a:solidFill>
                      <a:srgbClr val="70706F"/>
                    </a:solidFill>
                  </a:tcPr>
                </a:tc>
                <a:tc>
                  <a:txBody>
                    <a:bodyPr/>
                    <a:lstStyle/>
                    <a:p>
                      <a:pPr algn="ctr"/>
                      <a:r>
                        <a:rPr sz="3300" b="0">
                          <a:solidFill>
                            <a:srgbClr val="242424"/>
                          </a:solidFill>
                          <a:latin typeface="Barlow"/>
                        </a:rPr>
                        <a:t>0.00</a:t>
                      </a:r>
                    </a:p>
                  </a:txBody>
                  <a:tcPr marL="54864" marR="54864" marT="9144" marB="9144" anchor="ctr">
                    <a:solidFill>
                      <a:srgbClr val="F4F4F2"/>
                    </a:solidFill>
                  </a:tcPr>
                </a:tc>
                <a:tc>
                  <a:txBody>
                    <a:bodyPr/>
                    <a:lstStyle/>
                    <a:p>
                      <a:pPr algn="ctr"/>
                      <a:r>
                        <a:rPr sz="3300" b="0">
                          <a:solidFill>
                            <a:srgbClr val="242424"/>
                          </a:solidFill>
                          <a:latin typeface="Barlow"/>
                        </a:rPr>
                        <a:t>0.191</a:t>
                      </a:r>
                    </a:p>
                  </a:txBody>
                  <a:tcPr marL="54864" marR="54864" marT="9144" marB="9144" anchor="ctr">
                    <a:solidFill>
                      <a:srgbClr val="DEC38C"/>
                    </a:solidFill>
                  </a:tcPr>
                </a:tc>
                <a:tc>
                  <a:txBody>
                    <a:bodyPr/>
                    <a:lstStyle/>
                    <a:p>
                      <a:pPr algn="ctr"/>
                      <a:r>
                        <a:rPr sz="3300" b="1" dirty="0">
                          <a:solidFill>
                            <a:srgbClr val="FFFFFF"/>
                          </a:solidFill>
                          <a:latin typeface="Barlow"/>
                        </a:rPr>
                        <a:t>0.174</a:t>
                      </a:r>
                    </a:p>
                  </a:txBody>
                  <a:tcPr marL="54864" marR="54864" marT="9144" marB="9144" anchor="ctr">
                    <a:solidFill>
                      <a:srgbClr val="3D3D3D"/>
                    </a:solidFill>
                  </a:tcPr>
                </a:tc>
                <a:tc>
                  <a:txBody>
                    <a:bodyPr/>
                    <a:lstStyle/>
                    <a:p>
                      <a:pPr algn="ctr"/>
                      <a:r>
                        <a:rPr sz="3300" b="0">
                          <a:solidFill>
                            <a:srgbClr val="242424"/>
                          </a:solidFill>
                          <a:latin typeface="Barlow"/>
                        </a:rPr>
                        <a:t>0.00</a:t>
                      </a:r>
                    </a:p>
                  </a:txBody>
                  <a:tcPr marL="54864" marR="54864" marT="9144" marB="9144" anchor="ctr">
                    <a:solidFill>
                      <a:srgbClr val="F4F4F2"/>
                    </a:solidFill>
                  </a:tcPr>
                </a:tc>
                <a:tc>
                  <a:txBody>
                    <a:bodyPr/>
                    <a:lstStyle/>
                    <a:p>
                      <a:pPr algn="ctr"/>
                      <a:r>
                        <a:rPr sz="3300" b="0">
                          <a:solidFill>
                            <a:srgbClr val="242424"/>
                          </a:solidFill>
                          <a:latin typeface="Barlow"/>
                        </a:rPr>
                        <a:t>0.198</a:t>
                      </a:r>
                    </a:p>
                  </a:txBody>
                  <a:tcPr marL="54864" marR="54864" marT="9144" marB="9144" anchor="ctr">
                    <a:solidFill>
                      <a:srgbClr val="CDA75B"/>
                    </a:solidFill>
                  </a:tcPr>
                </a:tc>
                <a:extLst>
                  <a:ext uri="{0D108BD9-81ED-4DB2-BD59-A6C34878D82A}">
                    <a16:rowId xmlns:a16="http://schemas.microsoft.com/office/drawing/2014/main" val="10001"/>
                  </a:ext>
                </a:extLst>
              </a:tr>
              <a:tr h="988108">
                <a:tc>
                  <a:txBody>
                    <a:bodyPr/>
                    <a:lstStyle/>
                    <a:p>
                      <a:pPr algn="l"/>
                      <a:r>
                        <a:rPr sz="3300" b="0">
                          <a:solidFill>
                            <a:srgbClr val="242424"/>
                          </a:solidFill>
                          <a:latin typeface="Barlow"/>
                        </a:rPr>
                        <a:t>Year</a:t>
                      </a:r>
                    </a:p>
                  </a:txBody>
                  <a:tcPr marL="0" marR="73152" marT="9144" marB="9144" anchor="ctr">
                    <a:noFill/>
                  </a:tcPr>
                </a:tc>
                <a:tc>
                  <a:txBody>
                    <a:bodyPr/>
                    <a:lstStyle/>
                    <a:p>
                      <a:pPr algn="ctr"/>
                      <a:r>
                        <a:rPr sz="3300" b="1">
                          <a:solidFill>
                            <a:srgbClr val="FFFFFF"/>
                          </a:solidFill>
                          <a:latin typeface="Barlow"/>
                        </a:rPr>
                        <a:t>0.239</a:t>
                      </a:r>
                    </a:p>
                  </a:txBody>
                  <a:tcPr marL="54864" marR="54864" marT="9144" marB="9144" anchor="ctr">
                    <a:solidFill>
                      <a:srgbClr val="3D3D3D"/>
                    </a:solidFill>
                  </a:tcPr>
                </a:tc>
                <a:tc>
                  <a:txBody>
                    <a:bodyPr/>
                    <a:lstStyle/>
                    <a:p>
                      <a:pPr algn="ctr"/>
                      <a:r>
                        <a:rPr sz="3300" b="0">
                          <a:solidFill>
                            <a:srgbClr val="242424"/>
                          </a:solidFill>
                          <a:latin typeface="Barlow"/>
                        </a:rPr>
                        <a:t>0.00</a:t>
                      </a:r>
                    </a:p>
                  </a:txBody>
                  <a:tcPr marL="54864" marR="54864" marT="9144" marB="9144" anchor="ctr">
                    <a:solidFill>
                      <a:srgbClr val="F4F4F2"/>
                    </a:solidFill>
                  </a:tcPr>
                </a:tc>
                <a:tc>
                  <a:txBody>
                    <a:bodyPr/>
                    <a:lstStyle/>
                    <a:p>
                      <a:pPr algn="ctr"/>
                      <a:r>
                        <a:rPr sz="3300" b="0" dirty="0">
                          <a:solidFill>
                            <a:srgbClr val="242424"/>
                          </a:solidFill>
                          <a:latin typeface="Barlow"/>
                        </a:rPr>
                        <a:t>0.141</a:t>
                      </a:r>
                    </a:p>
                  </a:txBody>
                  <a:tcPr marL="54864" marR="54864" marT="9144" marB="9144" anchor="ctr">
                    <a:solidFill>
                      <a:srgbClr val="E4CD9E"/>
                    </a:solidFill>
                  </a:tcPr>
                </a:tc>
                <a:tc>
                  <a:txBody>
                    <a:bodyPr/>
                    <a:lstStyle/>
                    <a:p>
                      <a:pPr algn="ctr"/>
                      <a:r>
                        <a:rPr sz="3300" b="0">
                          <a:solidFill>
                            <a:srgbClr val="FFFFFF"/>
                          </a:solidFill>
                          <a:latin typeface="Barlow"/>
                        </a:rPr>
                        <a:t>0.133</a:t>
                      </a:r>
                    </a:p>
                  </a:txBody>
                  <a:tcPr marL="54864" marR="54864" marT="9144" marB="9144" anchor="ctr">
                    <a:solidFill>
                      <a:srgbClr val="606060"/>
                    </a:solidFill>
                  </a:tcPr>
                </a:tc>
                <a:tc>
                  <a:txBody>
                    <a:bodyPr/>
                    <a:lstStyle/>
                    <a:p>
                      <a:pPr algn="ctr"/>
                      <a:r>
                        <a:rPr sz="3300" b="0">
                          <a:solidFill>
                            <a:srgbClr val="242424"/>
                          </a:solidFill>
                          <a:latin typeface="Barlow"/>
                        </a:rPr>
                        <a:t>0.00</a:t>
                      </a:r>
                    </a:p>
                  </a:txBody>
                  <a:tcPr marL="54864" marR="54864" marT="9144" marB="9144" anchor="ctr">
                    <a:solidFill>
                      <a:srgbClr val="F4F4F2"/>
                    </a:solidFill>
                  </a:tcPr>
                </a:tc>
                <a:tc>
                  <a:txBody>
                    <a:bodyPr/>
                    <a:lstStyle/>
                    <a:p>
                      <a:pPr algn="ctr"/>
                      <a:r>
                        <a:rPr sz="3300" b="0" dirty="0">
                          <a:solidFill>
                            <a:srgbClr val="242424"/>
                          </a:solidFill>
                          <a:latin typeface="Barlow"/>
                        </a:rPr>
                        <a:t>0.152</a:t>
                      </a:r>
                    </a:p>
                  </a:txBody>
                  <a:tcPr marL="54864" marR="54864" marT="9144" marB="9144" anchor="ctr">
                    <a:solidFill>
                      <a:srgbClr val="D6B574"/>
                    </a:solidFill>
                  </a:tcPr>
                </a:tc>
                <a:extLst>
                  <a:ext uri="{0D108BD9-81ED-4DB2-BD59-A6C34878D82A}">
                    <a16:rowId xmlns:a16="http://schemas.microsoft.com/office/drawing/2014/main" val="10002"/>
                  </a:ext>
                </a:extLst>
              </a:tr>
              <a:tr h="988108">
                <a:tc>
                  <a:txBody>
                    <a:bodyPr/>
                    <a:lstStyle/>
                    <a:p>
                      <a:pPr algn="l"/>
                      <a:r>
                        <a:rPr sz="3300" b="0">
                          <a:solidFill>
                            <a:srgbClr val="242424"/>
                          </a:solidFill>
                          <a:latin typeface="Barlow"/>
                        </a:rPr>
                        <a:t>NDVI</a:t>
                      </a:r>
                    </a:p>
                  </a:txBody>
                  <a:tcPr marL="0" marR="73152" marT="9144" marB="9144" anchor="ctr">
                    <a:noFill/>
                  </a:tcPr>
                </a:tc>
                <a:tc>
                  <a:txBody>
                    <a:bodyPr/>
                    <a:lstStyle/>
                    <a:p>
                      <a:pPr algn="ctr"/>
                      <a:r>
                        <a:rPr sz="3300" b="0">
                          <a:solidFill>
                            <a:srgbClr val="FFFFFF"/>
                          </a:solidFill>
                          <a:latin typeface="Barlow"/>
                        </a:rPr>
                        <a:t>0.138</a:t>
                      </a:r>
                    </a:p>
                  </a:txBody>
                  <a:tcPr marL="54864" marR="54864" marT="9144" marB="9144" anchor="ctr">
                    <a:solidFill>
                      <a:srgbClr val="7E7E7D"/>
                    </a:solidFill>
                  </a:tcPr>
                </a:tc>
                <a:tc>
                  <a:txBody>
                    <a:bodyPr/>
                    <a:lstStyle/>
                    <a:p>
                      <a:pPr algn="ctr"/>
                      <a:r>
                        <a:rPr sz="3300" b="0">
                          <a:solidFill>
                            <a:srgbClr val="242424"/>
                          </a:solidFill>
                          <a:latin typeface="Barlow"/>
                        </a:rPr>
                        <a:t>+1.38</a:t>
                      </a:r>
                    </a:p>
                  </a:txBody>
                  <a:tcPr marL="54864" marR="54864" marT="9144" marB="9144" anchor="ctr">
                    <a:solidFill>
                      <a:srgbClr val="A4C8BE"/>
                    </a:solidFill>
                  </a:tcPr>
                </a:tc>
                <a:tc>
                  <a:txBody>
                    <a:bodyPr/>
                    <a:lstStyle/>
                    <a:p>
                      <a:pPr algn="ctr"/>
                      <a:r>
                        <a:rPr sz="3300" b="1">
                          <a:solidFill>
                            <a:srgbClr val="FFFFFF"/>
                          </a:solidFill>
                          <a:latin typeface="Barlow"/>
                        </a:rPr>
                        <a:t>0.547</a:t>
                      </a:r>
                    </a:p>
                  </a:txBody>
                  <a:tcPr marL="54864" marR="54864" marT="9144" marB="9144" anchor="ctr">
                    <a:solidFill>
                      <a:srgbClr val="B8831C"/>
                    </a:solidFill>
                  </a:tcPr>
                </a:tc>
                <a:tc>
                  <a:txBody>
                    <a:bodyPr/>
                    <a:lstStyle/>
                    <a:p>
                      <a:pPr algn="ctr"/>
                      <a:r>
                        <a:rPr sz="3300" b="0">
                          <a:solidFill>
                            <a:srgbClr val="FFFFFF"/>
                          </a:solidFill>
                          <a:latin typeface="Barlow"/>
                        </a:rPr>
                        <a:t>0.104</a:t>
                      </a:r>
                    </a:p>
                  </a:txBody>
                  <a:tcPr marL="54864" marR="54864" marT="9144" marB="9144" anchor="ctr">
                    <a:solidFill>
                      <a:srgbClr val="7B7B7A"/>
                    </a:solidFill>
                  </a:tcPr>
                </a:tc>
                <a:tc>
                  <a:txBody>
                    <a:bodyPr/>
                    <a:lstStyle/>
                    <a:p>
                      <a:pPr algn="ctr"/>
                      <a:r>
                        <a:rPr sz="3300" b="0">
                          <a:solidFill>
                            <a:srgbClr val="242424"/>
                          </a:solidFill>
                          <a:latin typeface="Barlow"/>
                        </a:rPr>
                        <a:t>+0.34</a:t>
                      </a:r>
                    </a:p>
                  </a:txBody>
                  <a:tcPr marL="54864" marR="54864" marT="9144" marB="9144" anchor="ctr">
                    <a:solidFill>
                      <a:srgbClr val="E2EEEA"/>
                    </a:solidFill>
                  </a:tcPr>
                </a:tc>
                <a:tc>
                  <a:txBody>
                    <a:bodyPr/>
                    <a:lstStyle/>
                    <a:p>
                      <a:pPr algn="ctr"/>
                      <a:r>
                        <a:rPr sz="3300" b="1">
                          <a:solidFill>
                            <a:srgbClr val="FFFFFF"/>
                          </a:solidFill>
                          <a:latin typeface="Barlow"/>
                        </a:rPr>
                        <a:t>0.320</a:t>
                      </a:r>
                    </a:p>
                  </a:txBody>
                  <a:tcPr marL="54864" marR="54864" marT="9144" marB="9144" anchor="ctr">
                    <a:solidFill>
                      <a:srgbClr val="B8831C"/>
                    </a:solidFill>
                  </a:tcPr>
                </a:tc>
                <a:extLst>
                  <a:ext uri="{0D108BD9-81ED-4DB2-BD59-A6C34878D82A}">
                    <a16:rowId xmlns:a16="http://schemas.microsoft.com/office/drawing/2014/main" val="10003"/>
                  </a:ext>
                </a:extLst>
              </a:tr>
              <a:tr h="988108">
                <a:tc>
                  <a:txBody>
                    <a:bodyPr/>
                    <a:lstStyle/>
                    <a:p>
                      <a:pPr algn="l"/>
                      <a:r>
                        <a:rPr sz="3300" b="0">
                          <a:solidFill>
                            <a:srgbClr val="242424"/>
                          </a:solidFill>
                          <a:latin typeface="Barlow"/>
                        </a:rPr>
                        <a:t>CO</a:t>
                      </a:r>
                      <a:r>
                        <a:rPr sz="3300" b="0" baseline="-25000">
                          <a:solidFill>
                            <a:srgbClr val="242424"/>
                          </a:solidFill>
                          <a:latin typeface="Barlow"/>
                        </a:rPr>
                        <a:t>2</a:t>
                      </a:r>
                      <a:r>
                        <a:rPr sz="3300" b="0">
                          <a:solidFill>
                            <a:srgbClr val="242424"/>
                          </a:solidFill>
                          <a:latin typeface="Barlow"/>
                        </a:rPr>
                        <a:t> flux</a:t>
                      </a:r>
                    </a:p>
                  </a:txBody>
                  <a:tcPr marL="0" marR="73152" marT="9144" marB="9144" anchor="ctr">
                    <a:noFill/>
                  </a:tcPr>
                </a:tc>
                <a:tc>
                  <a:txBody>
                    <a:bodyPr/>
                    <a:lstStyle/>
                    <a:p>
                      <a:pPr algn="ctr"/>
                      <a:r>
                        <a:rPr sz="3300" b="0">
                          <a:solidFill>
                            <a:srgbClr val="FFFFFF"/>
                          </a:solidFill>
                          <a:latin typeface="Barlow"/>
                        </a:rPr>
                        <a:t>0.155</a:t>
                      </a:r>
                    </a:p>
                  </a:txBody>
                  <a:tcPr marL="54864" marR="54864" marT="9144" marB="9144" anchor="ctr">
                    <a:solidFill>
                      <a:srgbClr val="737372"/>
                    </a:solidFill>
                  </a:tcPr>
                </a:tc>
                <a:tc>
                  <a:txBody>
                    <a:bodyPr/>
                    <a:lstStyle/>
                    <a:p>
                      <a:pPr algn="ctr"/>
                      <a:r>
                        <a:rPr sz="3300" b="0">
                          <a:solidFill>
                            <a:srgbClr val="FFFFFF"/>
                          </a:solidFill>
                          <a:latin typeface="Barlow"/>
                        </a:rPr>
                        <a:t>−6.98</a:t>
                      </a:r>
                    </a:p>
                  </a:txBody>
                  <a:tcPr marL="54864" marR="54864" marT="9144" marB="9144" anchor="ctr">
                    <a:solidFill>
                      <a:srgbClr val="B00000"/>
                    </a:solidFill>
                  </a:tcPr>
                </a:tc>
                <a:tc>
                  <a:txBody>
                    <a:bodyPr/>
                    <a:lstStyle/>
                    <a:p>
                      <a:pPr algn="ctr"/>
                      <a:r>
                        <a:rPr sz="3300" b="0">
                          <a:solidFill>
                            <a:srgbClr val="242424"/>
                          </a:solidFill>
                          <a:latin typeface="Barlow"/>
                        </a:rPr>
                        <a:t>0.012</a:t>
                      </a:r>
                    </a:p>
                  </a:txBody>
                  <a:tcPr marL="54864" marR="54864" marT="9144" marB="9144" anchor="ctr">
                    <a:solidFill>
                      <a:srgbClr val="F8EED7"/>
                    </a:solidFill>
                  </a:tcPr>
                </a:tc>
                <a:tc>
                  <a:txBody>
                    <a:bodyPr/>
                    <a:lstStyle/>
                    <a:p>
                      <a:pPr algn="ctr"/>
                      <a:r>
                        <a:rPr sz="3300" b="0">
                          <a:solidFill>
                            <a:srgbClr val="FFFFFF"/>
                          </a:solidFill>
                          <a:latin typeface="Barlow"/>
                        </a:rPr>
                        <a:t>0.109</a:t>
                      </a:r>
                    </a:p>
                  </a:txBody>
                  <a:tcPr marL="54864" marR="54864" marT="9144" marB="9144" anchor="ctr">
                    <a:solidFill>
                      <a:srgbClr val="767675"/>
                    </a:solidFill>
                  </a:tcPr>
                </a:tc>
                <a:tc>
                  <a:txBody>
                    <a:bodyPr/>
                    <a:lstStyle/>
                    <a:p>
                      <a:pPr algn="ctr"/>
                      <a:r>
                        <a:rPr sz="3300" b="0">
                          <a:solidFill>
                            <a:srgbClr val="242424"/>
                          </a:solidFill>
                          <a:latin typeface="Barlow"/>
                        </a:rPr>
                        <a:t>−2.48</a:t>
                      </a:r>
                    </a:p>
                  </a:txBody>
                  <a:tcPr marL="54864" marR="54864" marT="9144" marB="9144" anchor="ctr">
                    <a:solidFill>
                      <a:srgbClr val="F0C7C7"/>
                    </a:solidFill>
                  </a:tcPr>
                </a:tc>
                <a:tc>
                  <a:txBody>
                    <a:bodyPr/>
                    <a:lstStyle/>
                    <a:p>
                      <a:pPr algn="ctr"/>
                      <a:r>
                        <a:rPr sz="3300" b="0">
                          <a:solidFill>
                            <a:srgbClr val="242424"/>
                          </a:solidFill>
                          <a:latin typeface="Barlow"/>
                        </a:rPr>
                        <a:t>0.149</a:t>
                      </a:r>
                    </a:p>
                  </a:txBody>
                  <a:tcPr marL="54864" marR="54864" marT="9144" marB="9144" anchor="ctr">
                    <a:solidFill>
                      <a:srgbClr val="D7B676"/>
                    </a:solidFill>
                  </a:tcPr>
                </a:tc>
                <a:extLst>
                  <a:ext uri="{0D108BD9-81ED-4DB2-BD59-A6C34878D82A}">
                    <a16:rowId xmlns:a16="http://schemas.microsoft.com/office/drawing/2014/main" val="10004"/>
                  </a:ext>
                </a:extLst>
              </a:tr>
              <a:tr h="988108">
                <a:tc>
                  <a:txBody>
                    <a:bodyPr/>
                    <a:lstStyle/>
                    <a:p>
                      <a:pPr algn="l"/>
                      <a:r>
                        <a:rPr sz="3300" b="0">
                          <a:solidFill>
                            <a:srgbClr val="242424"/>
                          </a:solidFill>
                          <a:latin typeface="Barlow"/>
                        </a:rPr>
                        <a:t>Depth</a:t>
                      </a:r>
                    </a:p>
                  </a:txBody>
                  <a:tcPr marL="0" marR="73152" marT="9144" marB="9144" anchor="ctr">
                    <a:noFill/>
                  </a:tcPr>
                </a:tc>
                <a:tc>
                  <a:txBody>
                    <a:bodyPr/>
                    <a:lstStyle/>
                    <a:p>
                      <a:pPr algn="ctr"/>
                      <a:r>
                        <a:rPr sz="3300" b="0">
                          <a:solidFill>
                            <a:srgbClr val="242424"/>
                          </a:solidFill>
                          <a:latin typeface="Barlow"/>
                        </a:rPr>
                        <a:t>0.019</a:t>
                      </a:r>
                    </a:p>
                  </a:txBody>
                  <a:tcPr marL="54864" marR="54864" marT="9144" marB="9144" anchor="ctr">
                    <a:solidFill>
                      <a:srgbClr val="DCDCDA"/>
                    </a:solidFill>
                  </a:tcPr>
                </a:tc>
                <a:tc>
                  <a:txBody>
                    <a:bodyPr/>
                    <a:lstStyle/>
                    <a:p>
                      <a:pPr algn="ctr"/>
                      <a:r>
                        <a:rPr sz="3300" b="0" dirty="0">
                          <a:solidFill>
                            <a:srgbClr val="FFFFFF"/>
                          </a:solidFill>
                          <a:latin typeface="Barlow"/>
                        </a:rPr>
                        <a:t>+3.30</a:t>
                      </a:r>
                    </a:p>
                  </a:txBody>
                  <a:tcPr marL="54864" marR="54864" marT="9144" marB="9144" anchor="ctr">
                    <a:solidFill>
                      <a:srgbClr val="68A495"/>
                    </a:solidFill>
                  </a:tcPr>
                </a:tc>
                <a:tc>
                  <a:txBody>
                    <a:bodyPr/>
                    <a:lstStyle/>
                    <a:p>
                      <a:pPr algn="ctr"/>
                      <a:r>
                        <a:rPr sz="3300" b="0">
                          <a:solidFill>
                            <a:srgbClr val="242424"/>
                          </a:solidFill>
                          <a:latin typeface="Barlow"/>
                        </a:rPr>
                        <a:t>0.021</a:t>
                      </a:r>
                    </a:p>
                  </a:txBody>
                  <a:tcPr marL="54864" marR="54864" marT="9144" marB="9144" anchor="ctr">
                    <a:solidFill>
                      <a:srgbClr val="F6EBD2"/>
                    </a:solidFill>
                  </a:tcPr>
                </a:tc>
                <a:tc>
                  <a:txBody>
                    <a:bodyPr/>
                    <a:lstStyle/>
                    <a:p>
                      <a:pPr algn="ctr"/>
                      <a:r>
                        <a:rPr sz="3300" b="0">
                          <a:solidFill>
                            <a:srgbClr val="FFFFFF"/>
                          </a:solidFill>
                          <a:latin typeface="Barlow"/>
                        </a:rPr>
                        <a:t>0.108</a:t>
                      </a:r>
                    </a:p>
                  </a:txBody>
                  <a:tcPr marL="54864" marR="54864" marT="9144" marB="9144" anchor="ctr">
                    <a:solidFill>
                      <a:srgbClr val="777776"/>
                    </a:solidFill>
                  </a:tcPr>
                </a:tc>
                <a:tc>
                  <a:txBody>
                    <a:bodyPr/>
                    <a:lstStyle/>
                    <a:p>
                      <a:pPr algn="ctr"/>
                      <a:r>
                        <a:rPr sz="3300" b="0">
                          <a:solidFill>
                            <a:srgbClr val="FFFFFF"/>
                          </a:solidFill>
                          <a:latin typeface="Barlow"/>
                        </a:rPr>
                        <a:t>+37.63</a:t>
                      </a:r>
                    </a:p>
                  </a:txBody>
                  <a:tcPr marL="54864" marR="54864" marT="9144" marB="9144" anchor="ctr">
                    <a:solidFill>
                      <a:srgbClr val="0F6E56"/>
                    </a:solidFill>
                  </a:tcPr>
                </a:tc>
                <a:tc>
                  <a:txBody>
                    <a:bodyPr/>
                    <a:lstStyle/>
                    <a:p>
                      <a:pPr algn="ctr"/>
                      <a:r>
                        <a:rPr sz="3300" b="0">
                          <a:solidFill>
                            <a:srgbClr val="242424"/>
                          </a:solidFill>
                          <a:latin typeface="Barlow"/>
                        </a:rPr>
                        <a:t>0.040</a:t>
                      </a:r>
                    </a:p>
                  </a:txBody>
                  <a:tcPr marL="54864" marR="54864" marT="9144" marB="9144" anchor="ctr">
                    <a:solidFill>
                      <a:srgbClr val="EEDEBB"/>
                    </a:solidFill>
                  </a:tcPr>
                </a:tc>
                <a:extLst>
                  <a:ext uri="{0D108BD9-81ED-4DB2-BD59-A6C34878D82A}">
                    <a16:rowId xmlns:a16="http://schemas.microsoft.com/office/drawing/2014/main" val="10005"/>
                  </a:ext>
                </a:extLst>
              </a:tr>
              <a:tr h="988108">
                <a:tc>
                  <a:txBody>
                    <a:bodyPr/>
                    <a:lstStyle/>
                    <a:p>
                      <a:pPr algn="l"/>
                      <a:r>
                        <a:rPr sz="3300" b="0" dirty="0">
                          <a:solidFill>
                            <a:srgbClr val="242424"/>
                          </a:solidFill>
                          <a:latin typeface="Barlow"/>
                        </a:rPr>
                        <a:t>Treatment</a:t>
                      </a:r>
                    </a:p>
                  </a:txBody>
                  <a:tcPr marL="0" marR="73152" marT="9144" marB="9144" anchor="ctr">
                    <a:noFill/>
                  </a:tcPr>
                </a:tc>
                <a:tc>
                  <a:txBody>
                    <a:bodyPr/>
                    <a:lstStyle/>
                    <a:p>
                      <a:pPr algn="ctr"/>
                      <a:r>
                        <a:rPr sz="3300" b="0">
                          <a:solidFill>
                            <a:srgbClr val="242424"/>
                          </a:solidFill>
                          <a:latin typeface="Barlow"/>
                        </a:rPr>
                        <a:t>0.020</a:t>
                      </a:r>
                    </a:p>
                  </a:txBody>
                  <a:tcPr marL="54864" marR="54864" marT="9144" marB="9144" anchor="ctr">
                    <a:solidFill>
                      <a:srgbClr val="DBDBD9"/>
                    </a:solidFill>
                  </a:tcPr>
                </a:tc>
                <a:tc>
                  <a:txBody>
                    <a:bodyPr/>
                    <a:lstStyle/>
                    <a:p>
                      <a:pPr algn="ctr"/>
                      <a:r>
                        <a:rPr sz="3300" b="0">
                          <a:solidFill>
                            <a:srgbClr val="242424"/>
                          </a:solidFill>
                          <a:latin typeface="Barlow"/>
                        </a:rPr>
                        <a:t>+2.87</a:t>
                      </a:r>
                    </a:p>
                  </a:txBody>
                  <a:tcPr marL="54864" marR="54864" marT="9144" marB="9144" anchor="ctr">
                    <a:solidFill>
                      <a:srgbClr val="74AC9D"/>
                    </a:solidFill>
                  </a:tcPr>
                </a:tc>
                <a:tc>
                  <a:txBody>
                    <a:bodyPr/>
                    <a:lstStyle/>
                    <a:p>
                      <a:pPr algn="ctr"/>
                      <a:r>
                        <a:rPr sz="3300" b="0" dirty="0">
                          <a:solidFill>
                            <a:srgbClr val="242424"/>
                          </a:solidFill>
                          <a:latin typeface="Barlow"/>
                        </a:rPr>
                        <a:t>0.054</a:t>
                      </a:r>
                    </a:p>
                  </a:txBody>
                  <a:tcPr marL="54864" marR="54864" marT="9144" marB="9144" anchor="ctr">
                    <a:solidFill>
                      <a:srgbClr val="F0E1C1"/>
                    </a:solidFill>
                  </a:tcPr>
                </a:tc>
                <a:tc>
                  <a:txBody>
                    <a:bodyPr/>
                    <a:lstStyle/>
                    <a:p>
                      <a:pPr algn="ctr"/>
                      <a:r>
                        <a:rPr sz="3300" b="0" dirty="0">
                          <a:solidFill>
                            <a:srgbClr val="242424"/>
                          </a:solidFill>
                          <a:latin typeface="Barlow"/>
                        </a:rPr>
                        <a:t>0.027</a:t>
                      </a:r>
                    </a:p>
                  </a:txBody>
                  <a:tcPr marL="54864" marR="54864" marT="9144" marB="9144" anchor="ctr">
                    <a:solidFill>
                      <a:srgbClr val="CBCBC9"/>
                    </a:solidFill>
                  </a:tcPr>
                </a:tc>
                <a:tc>
                  <a:txBody>
                    <a:bodyPr/>
                    <a:lstStyle/>
                    <a:p>
                      <a:pPr algn="ctr"/>
                      <a:r>
                        <a:rPr sz="3300" b="0">
                          <a:solidFill>
                            <a:srgbClr val="242424"/>
                          </a:solidFill>
                          <a:latin typeface="Barlow"/>
                        </a:rPr>
                        <a:t>+0.16</a:t>
                      </a:r>
                    </a:p>
                  </a:txBody>
                  <a:tcPr marL="54864" marR="54864" marT="9144" marB="9144" anchor="ctr">
                    <a:solidFill>
                      <a:srgbClr val="E5F0ED"/>
                    </a:solidFill>
                  </a:tcPr>
                </a:tc>
                <a:tc>
                  <a:txBody>
                    <a:bodyPr/>
                    <a:lstStyle/>
                    <a:p>
                      <a:pPr algn="ctr"/>
                      <a:r>
                        <a:rPr sz="3300" b="0">
                          <a:solidFill>
                            <a:srgbClr val="242424"/>
                          </a:solidFill>
                          <a:latin typeface="Barlow"/>
                        </a:rPr>
                        <a:t>0.061</a:t>
                      </a:r>
                    </a:p>
                  </a:txBody>
                  <a:tcPr marL="54864" marR="54864" marT="9144" marB="9144" anchor="ctr">
                    <a:solidFill>
                      <a:srgbClr val="E9D5AC"/>
                    </a:solidFill>
                  </a:tcPr>
                </a:tc>
                <a:extLst>
                  <a:ext uri="{0D108BD9-81ED-4DB2-BD59-A6C34878D82A}">
                    <a16:rowId xmlns:a16="http://schemas.microsoft.com/office/drawing/2014/main" val="10006"/>
                  </a:ext>
                </a:extLst>
              </a:tr>
              <a:tr h="904718">
                <a:tc>
                  <a:txBody>
                    <a:bodyPr/>
                    <a:lstStyle/>
                    <a:p>
                      <a:pPr algn="l"/>
                      <a:r>
                        <a:rPr sz="3300" b="1" dirty="0">
                          <a:solidFill>
                            <a:srgbClr val="D00000"/>
                          </a:solidFill>
                          <a:latin typeface="Barlow"/>
                        </a:rPr>
                        <a:t>Grazing</a:t>
                      </a:r>
                    </a:p>
                  </a:txBody>
                  <a:tcPr marL="0" marR="73152" marT="9144" marB="9144" anchor="ctr">
                    <a:noFill/>
                  </a:tcPr>
                </a:tc>
                <a:tc>
                  <a:txBody>
                    <a:bodyPr/>
                    <a:lstStyle/>
                    <a:p>
                      <a:pPr algn="ctr"/>
                      <a:r>
                        <a:rPr sz="3300" b="1">
                          <a:solidFill>
                            <a:srgbClr val="D00000"/>
                          </a:solidFill>
                          <a:latin typeface="Barlow"/>
                        </a:rPr>
                        <a:t>0.004</a:t>
                      </a:r>
                    </a:p>
                  </a:txBody>
                  <a:tcPr marL="54864" marR="54864" marT="9144" marB="9144" anchor="ctr">
                    <a:solidFill>
                      <a:srgbClr val="EDEDEB"/>
                    </a:solidFill>
                  </a:tcPr>
                </a:tc>
                <a:tc>
                  <a:txBody>
                    <a:bodyPr/>
                    <a:lstStyle/>
                    <a:p>
                      <a:pPr algn="ctr"/>
                      <a:r>
                        <a:rPr sz="3300" b="1">
                          <a:solidFill>
                            <a:srgbClr val="D00000"/>
                          </a:solidFill>
                          <a:latin typeface="Barlow"/>
                        </a:rPr>
                        <a:t>−0.32</a:t>
                      </a:r>
                    </a:p>
                  </a:txBody>
                  <a:tcPr marL="54864" marR="54864" marT="9144" marB="9144" anchor="ctr">
                    <a:solidFill>
                      <a:srgbClr val="F2CFCF"/>
                    </a:solidFill>
                  </a:tcPr>
                </a:tc>
                <a:tc>
                  <a:txBody>
                    <a:bodyPr/>
                    <a:lstStyle/>
                    <a:p>
                      <a:pPr algn="ctr"/>
                      <a:r>
                        <a:rPr sz="3300" b="1">
                          <a:solidFill>
                            <a:srgbClr val="D00000"/>
                          </a:solidFill>
                          <a:latin typeface="Barlow"/>
                        </a:rPr>
                        <a:t>0.012</a:t>
                      </a:r>
                    </a:p>
                  </a:txBody>
                  <a:tcPr marL="54864" marR="54864" marT="9144" marB="9144" anchor="ctr">
                    <a:solidFill>
                      <a:srgbClr val="F8EED7"/>
                    </a:solidFill>
                  </a:tcPr>
                </a:tc>
                <a:tc>
                  <a:txBody>
                    <a:bodyPr/>
                    <a:lstStyle/>
                    <a:p>
                      <a:pPr algn="ctr"/>
                      <a:r>
                        <a:rPr sz="3300" b="1">
                          <a:solidFill>
                            <a:srgbClr val="D00000"/>
                          </a:solidFill>
                          <a:latin typeface="Barlow"/>
                        </a:rPr>
                        <a:t>0.008</a:t>
                      </a:r>
                    </a:p>
                  </a:txBody>
                  <a:tcPr marL="54864" marR="54864" marT="9144" marB="9144" anchor="ctr">
                    <a:solidFill>
                      <a:srgbClr val="E4E4E3"/>
                    </a:solidFill>
                  </a:tcPr>
                </a:tc>
                <a:tc>
                  <a:txBody>
                    <a:bodyPr/>
                    <a:lstStyle/>
                    <a:p>
                      <a:pPr algn="ctr"/>
                      <a:r>
                        <a:rPr sz="3300" b="1">
                          <a:solidFill>
                            <a:srgbClr val="D00000"/>
                          </a:solidFill>
                          <a:latin typeface="Barlow"/>
                        </a:rPr>
                        <a:t>−0.18</a:t>
                      </a:r>
                    </a:p>
                  </a:txBody>
                  <a:tcPr marL="54864" marR="54864" marT="9144" marB="9144" anchor="ctr">
                    <a:solidFill>
                      <a:srgbClr val="F9E4E4"/>
                    </a:solidFill>
                  </a:tcPr>
                </a:tc>
                <a:tc>
                  <a:txBody>
                    <a:bodyPr/>
                    <a:lstStyle/>
                    <a:p>
                      <a:pPr algn="ctr"/>
                      <a:r>
                        <a:rPr sz="3300" b="1" dirty="0">
                          <a:solidFill>
                            <a:srgbClr val="D00000"/>
                          </a:solidFill>
                          <a:latin typeface="Barlow"/>
                        </a:rPr>
                        <a:t>0.035</a:t>
                      </a:r>
                    </a:p>
                  </a:txBody>
                  <a:tcPr marL="54864" marR="54864" marT="9144" marB="9144" anchor="ctr">
                    <a:solidFill>
                      <a:srgbClr val="F0E0BF"/>
                    </a:solidFill>
                  </a:tcPr>
                </a:tc>
                <a:extLst>
                  <a:ext uri="{0D108BD9-81ED-4DB2-BD59-A6C34878D82A}">
                    <a16:rowId xmlns:a16="http://schemas.microsoft.com/office/drawing/2014/main" val="10007"/>
                  </a:ext>
                </a:extLst>
              </a:tr>
            </a:tbl>
          </a:graphicData>
        </a:graphic>
      </p:graphicFrame>
      <p:sp>
        <p:nvSpPr>
          <p:cNvPr id="117" name="TextBox 116"/>
          <p:cNvSpPr txBox="1"/>
          <p:nvPr/>
        </p:nvSpPr>
        <p:spPr>
          <a:xfrm>
            <a:off x="1181126" y="31155296"/>
            <a:ext cx="11457432" cy="1862764"/>
          </a:xfrm>
          <a:prstGeom prst="rect">
            <a:avLst/>
          </a:prstGeom>
          <a:noFill/>
        </p:spPr>
        <p:txBody>
          <a:bodyPr wrap="square" lIns="0" tIns="0" rIns="0" bIns="0">
            <a:spAutoFit/>
          </a:bodyPr>
          <a:lstStyle/>
          <a:p>
            <a:pPr>
              <a:lnSpc>
                <a:spcPts val="4059"/>
              </a:lnSpc>
            </a:pPr>
            <a:r>
              <a:rPr sz="3300" dirty="0">
                <a:solidFill>
                  <a:srgbClr val="242424"/>
                </a:solidFill>
                <a:latin typeface="Barlow SemiBold"/>
              </a:rPr>
              <a:t>Covariates</a:t>
            </a:r>
            <a:r>
              <a:rPr sz="3300" dirty="0">
                <a:solidFill>
                  <a:srgbClr val="242424"/>
                </a:solidFill>
                <a:latin typeface="Barlow"/>
              </a:rPr>
              <a:t> — NDVI, EVI and SAR‑VV via Google Earth Engine; SPEI‑90d per sampling window (GRIDMET); chamber CO₂, N₂O and CH₄ as seasonal means.</a:t>
            </a:r>
          </a:p>
        </p:txBody>
      </p:sp>
      <p:sp>
        <p:nvSpPr>
          <p:cNvPr id="118" name="TextBox 117"/>
          <p:cNvSpPr txBox="1"/>
          <p:nvPr/>
        </p:nvSpPr>
        <p:spPr>
          <a:xfrm>
            <a:off x="1194843" y="32744177"/>
            <a:ext cx="11457432" cy="2056332"/>
          </a:xfrm>
          <a:prstGeom prst="rect">
            <a:avLst/>
          </a:prstGeom>
          <a:noFill/>
        </p:spPr>
        <p:txBody>
          <a:bodyPr wrap="square" lIns="0" tIns="0" rIns="0" bIns="0">
            <a:spAutoFit/>
          </a:bodyPr>
          <a:lstStyle/>
          <a:p>
            <a:pPr>
              <a:lnSpc>
                <a:spcPts val="4059"/>
              </a:lnSpc>
            </a:pPr>
            <a:r>
              <a:rPr sz="3300" dirty="0">
                <a:solidFill>
                  <a:srgbClr val="242424"/>
                </a:solidFill>
                <a:latin typeface="Barlow SemiBold"/>
              </a:rPr>
              <a:t>Ranking</a:t>
            </a:r>
            <a:r>
              <a:rPr sz="3300" dirty="0">
                <a:solidFill>
                  <a:srgbClr val="242424"/>
                </a:solidFill>
                <a:latin typeface="Barlow"/>
              </a:rPr>
              <a:t> — RF impurity (training splits; favors continuous over binary predictors), permutation (held‑out MSE; model‑agnostic) and GPR ARD length‑scales. Top five carried forward.</a:t>
            </a:r>
          </a:p>
        </p:txBody>
      </p:sp>
      <p:grpSp>
        <p:nvGrpSpPr>
          <p:cNvPr id="3" name="Group 2">
            <a:extLst>
              <a:ext uri="{FF2B5EF4-FFF2-40B4-BE49-F238E27FC236}">
                <a16:creationId xmlns:a16="http://schemas.microsoft.com/office/drawing/2014/main" id="{E1D15B2B-3BDE-6C1D-44F8-A1120A952508}"/>
              </a:ext>
            </a:extLst>
          </p:cNvPr>
          <p:cNvGrpSpPr/>
          <p:nvPr/>
        </p:nvGrpSpPr>
        <p:grpSpPr>
          <a:xfrm>
            <a:off x="1132501" y="36069131"/>
            <a:ext cx="11519774" cy="2649413"/>
            <a:chOff x="1067467" y="34594828"/>
            <a:chExt cx="11519774" cy="2649413"/>
          </a:xfrm>
        </p:grpSpPr>
        <p:sp>
          <p:nvSpPr>
            <p:cNvPr id="119" name="TextBox 118"/>
            <p:cNvSpPr txBox="1"/>
            <p:nvPr/>
          </p:nvSpPr>
          <p:spPr>
            <a:xfrm>
              <a:off x="1129809" y="34594828"/>
              <a:ext cx="11457432" cy="1530547"/>
            </a:xfrm>
            <a:prstGeom prst="rect">
              <a:avLst/>
            </a:prstGeom>
            <a:noFill/>
          </p:spPr>
          <p:txBody>
            <a:bodyPr wrap="square" lIns="0" tIns="0" rIns="0" bIns="0">
              <a:spAutoFit/>
            </a:bodyPr>
            <a:lstStyle/>
            <a:p>
              <a:pPr>
                <a:lnSpc>
                  <a:spcPts val="4059"/>
                </a:lnSpc>
              </a:pPr>
              <a:r>
                <a:rPr sz="3300" dirty="0">
                  <a:solidFill>
                    <a:srgbClr val="242424"/>
                  </a:solidFill>
                  <a:latin typeface="Barlow SemiBold"/>
                </a:rPr>
                <a:t>Model</a:t>
              </a:r>
              <a:r>
                <a:rPr sz="3300" dirty="0">
                  <a:solidFill>
                    <a:srgbClr val="242424"/>
                  </a:solidFill>
                  <a:latin typeface="Barlow"/>
                </a:rPr>
                <a:t> — </a:t>
              </a:r>
              <a:r>
                <a:rPr lang="en-US" sz="3300" dirty="0">
                  <a:solidFill>
                    <a:srgbClr val="242424"/>
                  </a:solidFill>
                  <a:latin typeface="Barlow"/>
                </a:rPr>
                <a:t>O</a:t>
              </a:r>
              <a:r>
                <a:rPr sz="3300" dirty="0">
                  <a:solidFill>
                    <a:srgbClr val="242424"/>
                  </a:solidFill>
                  <a:latin typeface="Barlow"/>
                </a:rPr>
                <a:t>ne global GPR, n = 264; log‑transformed target; </a:t>
              </a:r>
              <a:r>
                <a:rPr sz="3300" dirty="0" err="1">
                  <a:solidFill>
                    <a:srgbClr val="242424"/>
                  </a:solidFill>
                  <a:latin typeface="Barlow"/>
                </a:rPr>
                <a:t>Matérn</a:t>
              </a:r>
              <a:r>
                <a:rPr sz="3300" dirty="0">
                  <a:solidFill>
                    <a:srgbClr val="242424"/>
                  </a:solidFill>
                  <a:latin typeface="Barlow"/>
                </a:rPr>
                <a:t> ARD kernel; treatment, grazing and depth as inputs, not filters.</a:t>
              </a:r>
            </a:p>
          </p:txBody>
        </p:sp>
        <p:sp>
          <p:nvSpPr>
            <p:cNvPr id="121" name="TextBox 120"/>
            <p:cNvSpPr txBox="1"/>
            <p:nvPr/>
          </p:nvSpPr>
          <p:spPr>
            <a:xfrm>
              <a:off x="1067467" y="36239479"/>
              <a:ext cx="11457432" cy="1004762"/>
            </a:xfrm>
            <a:prstGeom prst="rect">
              <a:avLst/>
            </a:prstGeom>
            <a:noFill/>
          </p:spPr>
          <p:txBody>
            <a:bodyPr wrap="square" lIns="0" tIns="0" rIns="0" bIns="0">
              <a:spAutoFit/>
            </a:bodyPr>
            <a:lstStyle/>
            <a:p>
              <a:pPr>
                <a:lnSpc>
                  <a:spcPts val="4059"/>
                </a:lnSpc>
              </a:pPr>
              <a:r>
                <a:rPr sz="3300" dirty="0">
                  <a:solidFill>
                    <a:srgbClr val="242424"/>
                  </a:solidFill>
                  <a:latin typeface="Barlow SemiBold"/>
                </a:rPr>
                <a:t>Validation</a:t>
              </a:r>
              <a:r>
                <a:rPr sz="3300" dirty="0">
                  <a:solidFill>
                    <a:srgbClr val="242424"/>
                  </a:solidFill>
                  <a:latin typeface="Barlow"/>
                </a:rPr>
                <a:t> — </a:t>
              </a:r>
              <a:r>
                <a:rPr lang="en-US" sz="3300" dirty="0">
                  <a:solidFill>
                    <a:srgbClr val="242424"/>
                  </a:solidFill>
                  <a:latin typeface="Barlow"/>
                </a:rPr>
                <a:t>F</a:t>
              </a:r>
              <a:r>
                <a:rPr sz="3300" dirty="0">
                  <a:solidFill>
                    <a:srgbClr val="242424"/>
                  </a:solidFill>
                  <a:latin typeface="Barlow"/>
                </a:rPr>
                <a:t>it 2019–2022, predict 2023; RMSE, R², and 95% interval coverage reported with width.</a:t>
              </a:r>
            </a:p>
          </p:txBody>
        </p:sp>
      </p:grpSp>
      <p:sp>
        <p:nvSpPr>
          <p:cNvPr id="122" name="TextBox 121"/>
          <p:cNvSpPr txBox="1"/>
          <p:nvPr/>
        </p:nvSpPr>
        <p:spPr>
          <a:xfrm>
            <a:off x="1194843" y="34915635"/>
            <a:ext cx="11457432" cy="1215368"/>
          </a:xfrm>
          <a:prstGeom prst="rect">
            <a:avLst/>
          </a:prstGeom>
          <a:noFill/>
        </p:spPr>
        <p:txBody>
          <a:bodyPr wrap="square" lIns="0" tIns="0" rIns="0" bIns="0">
            <a:spAutoFit/>
          </a:bodyPr>
          <a:lstStyle/>
          <a:p>
            <a:pPr>
              <a:lnSpc>
                <a:spcPts val="4059"/>
              </a:lnSpc>
            </a:pPr>
            <a:r>
              <a:rPr sz="3300" dirty="0">
                <a:solidFill>
                  <a:srgbClr val="242424"/>
                </a:solidFill>
                <a:latin typeface="Barlow SemiBold"/>
              </a:rPr>
              <a:t>Grazing effect</a:t>
            </a:r>
            <a:r>
              <a:rPr sz="3300" dirty="0">
                <a:solidFill>
                  <a:srgbClr val="242424"/>
                </a:solidFill>
                <a:latin typeface="Barlow"/>
              </a:rPr>
              <a:t> — Mann–Whitney U within treatment × year; Holm‑corrected within the 2023 endpoint family.</a:t>
            </a:r>
          </a:p>
        </p:txBody>
      </p:sp>
      <p:sp>
        <p:nvSpPr>
          <p:cNvPr id="123" name="TextBox 122"/>
          <p:cNvSpPr txBox="1"/>
          <p:nvPr/>
        </p:nvSpPr>
        <p:spPr>
          <a:xfrm>
            <a:off x="27704034" y="37070868"/>
            <a:ext cx="11457432" cy="731520"/>
          </a:xfrm>
          <a:prstGeom prst="rect">
            <a:avLst/>
          </a:prstGeom>
          <a:noFill/>
        </p:spPr>
        <p:txBody>
          <a:bodyPr wrap="square" lIns="0" tIns="0" rIns="0" bIns="0">
            <a:spAutoFit/>
          </a:bodyPr>
          <a:lstStyle/>
          <a:p>
            <a:pPr algn="l"/>
            <a:r>
              <a:rPr sz="6000" b="1" dirty="0">
                <a:solidFill>
                  <a:srgbClr val="D00000"/>
                </a:solidFill>
                <a:latin typeface="Barlow Condensed"/>
              </a:rPr>
              <a:t>NEXT STEPS</a:t>
            </a:r>
          </a:p>
        </p:txBody>
      </p:sp>
      <p:sp>
        <p:nvSpPr>
          <p:cNvPr id="124" name="TextBox 123"/>
          <p:cNvSpPr txBox="1"/>
          <p:nvPr/>
        </p:nvSpPr>
        <p:spPr>
          <a:xfrm>
            <a:off x="27753326" y="38089818"/>
            <a:ext cx="11457432" cy="1461939"/>
          </a:xfrm>
          <a:prstGeom prst="rect">
            <a:avLst/>
          </a:prstGeom>
          <a:noFill/>
        </p:spPr>
        <p:txBody>
          <a:bodyPr wrap="square" lIns="0" tIns="0" rIns="0" bIns="0">
            <a:spAutoFit/>
          </a:bodyPr>
          <a:lstStyle/>
          <a:p>
            <a:pPr>
              <a:lnSpc>
                <a:spcPts val="3779"/>
              </a:lnSpc>
            </a:pPr>
            <a:r>
              <a:rPr sz="3300" dirty="0">
                <a:solidFill>
                  <a:srgbClr val="242424"/>
                </a:solidFill>
                <a:latin typeface="Barlow"/>
              </a:rPr>
              <a:t>Extend the temporal record  •  add plot-scale moisture  •  nest feature selection within training folds  •  close temporal sampling gaps</a:t>
            </a:r>
            <a:r>
              <a:rPr lang="en-US" sz="3300" dirty="0">
                <a:solidFill>
                  <a:srgbClr val="242424"/>
                </a:solidFill>
                <a:latin typeface="Barlow"/>
              </a:rPr>
              <a:t>  •  let covariates carry the time signal</a:t>
            </a:r>
            <a:endParaRPr sz="3300" dirty="0">
              <a:solidFill>
                <a:srgbClr val="242424"/>
              </a:solidFill>
              <a:latin typeface="Barlow"/>
            </a:endParaRPr>
          </a:p>
        </p:txBody>
      </p:sp>
      <p:sp>
        <p:nvSpPr>
          <p:cNvPr id="125" name="TextBox 124"/>
          <p:cNvSpPr txBox="1"/>
          <p:nvPr/>
        </p:nvSpPr>
        <p:spPr>
          <a:xfrm>
            <a:off x="13177699" y="27107567"/>
            <a:ext cx="14017752" cy="731520"/>
          </a:xfrm>
          <a:prstGeom prst="rect">
            <a:avLst/>
          </a:prstGeom>
          <a:noFill/>
        </p:spPr>
        <p:txBody>
          <a:bodyPr wrap="square" lIns="0" tIns="0" rIns="0" bIns="0">
            <a:spAutoFit/>
          </a:bodyPr>
          <a:lstStyle/>
          <a:p>
            <a:pPr algn="l"/>
            <a:r>
              <a:rPr sz="6000" b="1" dirty="0">
                <a:solidFill>
                  <a:srgbClr val="D00000"/>
                </a:solidFill>
                <a:latin typeface="Barlow Condensed"/>
              </a:rPr>
              <a:t>DISCUSSION</a:t>
            </a:r>
          </a:p>
        </p:txBody>
      </p:sp>
      <p:sp>
        <p:nvSpPr>
          <p:cNvPr id="126" name="TextBox 125"/>
          <p:cNvSpPr txBox="1"/>
          <p:nvPr/>
        </p:nvSpPr>
        <p:spPr>
          <a:xfrm>
            <a:off x="13210150" y="28172294"/>
            <a:ext cx="13843541" cy="8708794"/>
          </a:xfrm>
          <a:prstGeom prst="rect">
            <a:avLst/>
          </a:prstGeom>
          <a:noFill/>
        </p:spPr>
        <p:txBody>
          <a:bodyPr wrap="square" lIns="0" tIns="0" rIns="0" bIns="0">
            <a:spAutoFit/>
          </a:bodyPr>
          <a:lstStyle/>
          <a:p>
            <a:pPr algn="l">
              <a:lnSpc>
                <a:spcPts val="4620"/>
              </a:lnSpc>
              <a:spcBef>
                <a:spcPts val="1000"/>
              </a:spcBef>
            </a:pPr>
            <a:r>
              <a:rPr lang="en-US" sz="3300" dirty="0">
                <a:solidFill>
                  <a:srgbClr val="D00000"/>
                </a:solidFill>
                <a:latin typeface="Barlow"/>
              </a:rPr>
              <a:t>• </a:t>
            </a:r>
            <a:r>
              <a:rPr lang="en-US" sz="3300" dirty="0">
                <a:latin typeface="Barlow"/>
              </a:rPr>
              <a:t>A covariate can carry a real, conditional effect without being a useful global predictor.</a:t>
            </a:r>
          </a:p>
          <a:p>
            <a:pPr algn="l">
              <a:lnSpc>
                <a:spcPts val="4620"/>
              </a:lnSpc>
              <a:spcBef>
                <a:spcPts val="1000"/>
              </a:spcBef>
            </a:pPr>
            <a:r>
              <a:rPr lang="en-US" sz="3300" dirty="0">
                <a:solidFill>
                  <a:srgbClr val="D00000"/>
                </a:solidFill>
                <a:latin typeface="Barlow"/>
              </a:rPr>
              <a:t>• </a:t>
            </a:r>
            <a:r>
              <a:rPr lang="en-US" sz="3300" dirty="0">
                <a:latin typeface="Barlow"/>
              </a:rPr>
              <a:t>Importance ranking demonstrates this: grazing ranked last or near-last under all three methods. However, it is an important covariate within the different management systems when analyzed separately.</a:t>
            </a:r>
          </a:p>
          <a:p>
            <a:pPr algn="l">
              <a:lnSpc>
                <a:spcPts val="4620"/>
              </a:lnSpc>
              <a:spcBef>
                <a:spcPts val="1000"/>
              </a:spcBef>
            </a:pPr>
            <a:r>
              <a:rPr lang="en-US" sz="3300" dirty="0">
                <a:solidFill>
                  <a:srgbClr val="D00000"/>
                </a:solidFill>
                <a:latin typeface="Barlow"/>
              </a:rPr>
              <a:t>• </a:t>
            </a:r>
            <a:r>
              <a:rPr lang="en-US" sz="3300" dirty="0">
                <a:latin typeface="Barlow"/>
              </a:rPr>
              <a:t>To address the issue of limited soil data, grouping folds by plot ID — as Lucero et al. (2026) did — may suit sparse soil records better than the year-grouped folds used here, though it tests generalization to new plots rather than to new years.</a:t>
            </a:r>
          </a:p>
          <a:p>
            <a:pPr algn="l">
              <a:lnSpc>
                <a:spcPts val="4620"/>
              </a:lnSpc>
              <a:spcBef>
                <a:spcPts val="1000"/>
              </a:spcBef>
            </a:pPr>
            <a:r>
              <a:rPr lang="en-US" sz="3300" dirty="0">
                <a:solidFill>
                  <a:srgbClr val="D00000"/>
                </a:solidFill>
                <a:latin typeface="Barlow"/>
              </a:rPr>
              <a:t>• </a:t>
            </a:r>
            <a:r>
              <a:rPr lang="en-US" sz="3300" dirty="0">
                <a:latin typeface="Barlow"/>
              </a:rPr>
              <a:t>Due to the limitation of the soil record, five annual campaigns can only support description and association, not prediction.</a:t>
            </a:r>
          </a:p>
          <a:p>
            <a:pPr algn="l">
              <a:lnSpc>
                <a:spcPts val="4620"/>
              </a:lnSpc>
              <a:spcBef>
                <a:spcPts val="1000"/>
              </a:spcBef>
            </a:pPr>
            <a:r>
              <a:rPr lang="en-US" sz="3300" dirty="0">
                <a:solidFill>
                  <a:srgbClr val="D00000"/>
                </a:solidFill>
                <a:latin typeface="Barlow"/>
              </a:rPr>
              <a:t>• </a:t>
            </a:r>
            <a:r>
              <a:rPr lang="en-US" sz="3300" dirty="0">
                <a:latin typeface="Barlow"/>
              </a:rPr>
              <a:t>Another limitation is the small plot size relative to the drought index grid. Nine one-acre plots share a single 4.6 km pixel, so SPEI varies in time but not in space, unlike the 10 m vegetation and SAR covariates.</a:t>
            </a:r>
            <a:endParaRPr sz="3300" dirty="0">
              <a:latin typeface="Barlow"/>
            </a:endParaRPr>
          </a:p>
        </p:txBody>
      </p:sp>
      <p:grpSp>
        <p:nvGrpSpPr>
          <p:cNvPr id="64" name="Group 63">
            <a:extLst>
              <a:ext uri="{FF2B5EF4-FFF2-40B4-BE49-F238E27FC236}">
                <a16:creationId xmlns:a16="http://schemas.microsoft.com/office/drawing/2014/main" id="{CAB4C1CC-11CD-1B09-7A37-00F11DF6ED6E}"/>
              </a:ext>
            </a:extLst>
          </p:cNvPr>
          <p:cNvGrpSpPr/>
          <p:nvPr/>
        </p:nvGrpSpPr>
        <p:grpSpPr>
          <a:xfrm>
            <a:off x="22947147" y="37623691"/>
            <a:ext cx="4074093" cy="1828617"/>
            <a:chOff x="22619368" y="37596534"/>
            <a:chExt cx="4074093" cy="1828617"/>
          </a:xfrm>
        </p:grpSpPr>
        <p:pic>
          <p:nvPicPr>
            <p:cNvPr id="36" name="Graphic 35" descr="Smart Phone outline">
              <a:extLst>
                <a:ext uri="{FF2B5EF4-FFF2-40B4-BE49-F238E27FC236}">
                  <a16:creationId xmlns:a16="http://schemas.microsoft.com/office/drawing/2014/main" id="{22925429-D8C5-80FA-CEB9-A4D2686620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946357" y="37596534"/>
              <a:ext cx="1396721" cy="1396721"/>
            </a:xfrm>
            <a:prstGeom prst="rect">
              <a:avLst/>
            </a:prstGeom>
          </p:spPr>
        </p:pic>
        <p:sp>
          <p:nvSpPr>
            <p:cNvPr id="37" name="TextBox 36">
              <a:extLst>
                <a:ext uri="{FF2B5EF4-FFF2-40B4-BE49-F238E27FC236}">
                  <a16:creationId xmlns:a16="http://schemas.microsoft.com/office/drawing/2014/main" id="{D27EE3A4-FBEF-00E6-99F0-F93AFA96E5B0}"/>
                </a:ext>
              </a:extLst>
            </p:cNvPr>
            <p:cNvSpPr txBox="1"/>
            <p:nvPr/>
          </p:nvSpPr>
          <p:spPr>
            <a:xfrm>
              <a:off x="24888725" y="38963486"/>
              <a:ext cx="1804736" cy="461665"/>
            </a:xfrm>
            <a:prstGeom prst="rect">
              <a:avLst/>
            </a:prstGeom>
            <a:noFill/>
          </p:spPr>
          <p:txBody>
            <a:bodyPr wrap="square" rtlCol="0">
              <a:spAutoFit/>
            </a:bodyPr>
            <a:lstStyle/>
            <a:p>
              <a:r>
                <a:rPr lang="en-US" sz="2400" dirty="0">
                  <a:latin typeface="Barlow" panose="00000500000000000000" pitchFamily="2" charset="0"/>
                </a:rPr>
                <a:t>Scan here</a:t>
              </a:r>
            </a:p>
          </p:txBody>
        </p:sp>
        <p:cxnSp>
          <p:nvCxnSpPr>
            <p:cNvPr id="41" name="Straight Arrow Connector 40">
              <a:extLst>
                <a:ext uri="{FF2B5EF4-FFF2-40B4-BE49-F238E27FC236}">
                  <a16:creationId xmlns:a16="http://schemas.microsoft.com/office/drawing/2014/main" id="{4398976C-04E5-546B-6F41-9FB7C7FB59CE}"/>
                </a:ext>
              </a:extLst>
            </p:cNvPr>
            <p:cNvCxnSpPr/>
            <p:nvPr/>
          </p:nvCxnSpPr>
          <p:spPr>
            <a:xfrm flipH="1">
              <a:off x="22619368" y="38324942"/>
              <a:ext cx="239436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pic>
        <p:nvPicPr>
          <p:cNvPr id="58" name="Graphic 57">
            <a:extLst>
              <a:ext uri="{FF2B5EF4-FFF2-40B4-BE49-F238E27FC236}">
                <a16:creationId xmlns:a16="http://schemas.microsoft.com/office/drawing/2014/main" id="{E7E48FD9-D9C0-1EFC-C8AD-1EC985B6522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7557068" y="29111134"/>
            <a:ext cx="11579490" cy="605725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7920</TotalTime>
  <Words>1119</Words>
  <Application>Microsoft Office PowerPoint</Application>
  <PresentationFormat>Custom</PresentationFormat>
  <Paragraphs>178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Barlow</vt:lpstr>
      <vt:lpstr>Barlow Condensed</vt:lpstr>
      <vt:lpstr>Barlow Medium</vt:lpstr>
      <vt:lpstr>Barlow SemiBold</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data fusion framework for covariate prioritization in incomplete short-term soil nitrogen records</dc:title>
  <dc:subject>PptxGenJS Presentation</dc:subject>
  <dc:creator>Aldi Airori</dc:creator>
  <cp:lastModifiedBy>Aldi Airori</cp:lastModifiedBy>
  <cp:revision>5</cp:revision>
  <dcterms:created xsi:type="dcterms:W3CDTF">2026-09-21T20:56:04Z</dcterms:created>
  <dcterms:modified xsi:type="dcterms:W3CDTF">2026-10-05T19:46:08Z</dcterms:modified>
</cp:coreProperties>
</file>